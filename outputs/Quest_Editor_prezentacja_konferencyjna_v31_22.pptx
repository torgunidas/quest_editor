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dad72909604fea" /><Relationship Type="http://schemas.openxmlformats.org/officeDocument/2006/relationships/extended-properties" Target="/docProps/app.xml" Id="R4d85a6cbc1aa4afd" /><Relationship Type="http://schemas.openxmlformats.org/officeDocument/2006/relationships/officeDocument" Target="/ppt/presentation.xml" Id="R9e74bc6a315e42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e45ed5a2e4e6a"/>
  </p:sldMasterIdLst>
  <p:notesMasterIdLst>
    <p:notesMasterId xmlns:r="http://schemas.openxmlformats.org/officeDocument/2006/relationships" r:id="R828a6e8ebf8441db"/>
  </p:notesMasterIdLst>
  <p:sldIdLst>
    <p:sldId xmlns:r="http://schemas.openxmlformats.org/officeDocument/2006/relationships" id="256" r:id="R897e4026e5f5478e"/>
    <p:sldId xmlns:r="http://schemas.openxmlformats.org/officeDocument/2006/relationships" id="257" r:id="R5a1a6e8b83784dac"/>
    <p:sldId xmlns:r="http://schemas.openxmlformats.org/officeDocument/2006/relationships" id="258" r:id="R5cb94c472fd845d7"/>
    <p:sldId xmlns:r="http://schemas.openxmlformats.org/officeDocument/2006/relationships" id="259" r:id="R27e81d7e5f094698"/>
    <p:sldId xmlns:r="http://schemas.openxmlformats.org/officeDocument/2006/relationships" id="260" r:id="R1b1d10acc54f421b"/>
    <p:sldId xmlns:r="http://schemas.openxmlformats.org/officeDocument/2006/relationships" id="261" r:id="Ra832d437d6294580"/>
    <p:sldId xmlns:r="http://schemas.openxmlformats.org/officeDocument/2006/relationships" id="262" r:id="R2798e12b17224b37"/>
    <p:sldId xmlns:r="http://schemas.openxmlformats.org/officeDocument/2006/relationships" id="263" r:id="Rcafe2e1645224004"/>
    <p:sldId xmlns:r="http://schemas.openxmlformats.org/officeDocument/2006/relationships" id="264" r:id="R1732348a9f1f4d27"/>
    <p:sldId xmlns:r="http://schemas.openxmlformats.org/officeDocument/2006/relationships" id="265" r:id="Rc4675ec8c2f047a7"/>
    <p:sldId xmlns:r="http://schemas.openxmlformats.org/officeDocument/2006/relationships" id="266" r:id="R523f2d0c325248a8"/>
    <p:sldId xmlns:r="http://schemas.openxmlformats.org/officeDocument/2006/relationships" id="267" r:id="R6b7b552ab38247f3"/>
    <p:sldId xmlns:r="http://schemas.openxmlformats.org/officeDocument/2006/relationships" id="268" r:id="Re4b79d1ed78149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25d292d3334a3b" /><Relationship Type="http://schemas.openxmlformats.org/officeDocument/2006/relationships/slideMaster" Target="/ppt/slideMasters/slideMaster1.xml" Id="Rcf0e45ed5a2e4e6a" /><Relationship Type="http://schemas.openxmlformats.org/officeDocument/2006/relationships/notesMaster" Target="/ppt/notesMasters/notesMaster1.xml" Id="R828a6e8ebf8441db" /><Relationship Type="http://schemas.openxmlformats.org/officeDocument/2006/relationships/presProps" Target="/ppt/presProps.xml" Id="R248de8abb3e74db7" /><Relationship Type="http://schemas.openxmlformats.org/officeDocument/2006/relationships/tableStyles" Target="/ppt/tableStyles.xml" Id="R2bfa47a651d84d98" /><Relationship Type="http://schemas.openxmlformats.org/officeDocument/2006/relationships/slide" Target="/ppt/slides/slide1.xml" Id="R897e4026e5f5478e" /><Relationship Type="http://schemas.openxmlformats.org/officeDocument/2006/relationships/slide" Target="/ppt/slides/slide2.xml" Id="R5a1a6e8b83784dac" /><Relationship Type="http://schemas.openxmlformats.org/officeDocument/2006/relationships/slide" Target="/ppt/slides/slide3.xml" Id="R5cb94c472fd845d7" /><Relationship Type="http://schemas.openxmlformats.org/officeDocument/2006/relationships/slide" Target="/ppt/slides/slide4.xml" Id="R27e81d7e5f094698" /><Relationship Type="http://schemas.openxmlformats.org/officeDocument/2006/relationships/slide" Target="/ppt/slides/slide5.xml" Id="R1b1d10acc54f421b" /><Relationship Type="http://schemas.openxmlformats.org/officeDocument/2006/relationships/slide" Target="/ppt/slides/slide6.xml" Id="Ra832d437d6294580" /><Relationship Type="http://schemas.openxmlformats.org/officeDocument/2006/relationships/slide" Target="/ppt/slides/slide7.xml" Id="R2798e12b17224b37" /><Relationship Type="http://schemas.openxmlformats.org/officeDocument/2006/relationships/slide" Target="/ppt/slides/slide8.xml" Id="Rcafe2e1645224004" /><Relationship Type="http://schemas.openxmlformats.org/officeDocument/2006/relationships/slide" Target="/ppt/slides/slide9.xml" Id="R1732348a9f1f4d27" /><Relationship Type="http://schemas.openxmlformats.org/officeDocument/2006/relationships/slide" Target="/ppt/slides/slide10.xml" Id="Rc4675ec8c2f047a7" /><Relationship Type="http://schemas.openxmlformats.org/officeDocument/2006/relationships/slide" Target="/ppt/slides/slide11.xml" Id="R523f2d0c325248a8" /><Relationship Type="http://schemas.openxmlformats.org/officeDocument/2006/relationships/slide" Target="/ppt/slides/slide12.xml" Id="R6b7b552ab38247f3" /><Relationship Type="http://schemas.openxmlformats.org/officeDocument/2006/relationships/slide" Target="/ppt/slides/slide13.xml" Id="Re4b79d1ed78149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61306a7ee9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829bc1d564edb" /><Relationship Type="http://schemas.openxmlformats.org/officeDocument/2006/relationships/notesMaster" Target="/ppt/notesMasters/notesMaster1.xml" Id="Rdd38c86cb11448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00b788d9b43ba" /><Relationship Type="http://schemas.openxmlformats.org/officeDocument/2006/relationships/notesMaster" Target="/ppt/notesMasters/notesMaster1.xml" Id="R67c081695f4b4b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c054184cc64104" /><Relationship Type="http://schemas.openxmlformats.org/officeDocument/2006/relationships/notesMaster" Target="/ppt/notesMasters/notesMaster1.xml" Id="R68b547cf47294d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af4c9ec875447b" /><Relationship Type="http://schemas.openxmlformats.org/officeDocument/2006/relationships/notesMaster" Target="/ppt/notesMasters/notesMaster1.xml" Id="Ra83ad322cfa74f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277ad45ec84c65" /><Relationship Type="http://schemas.openxmlformats.org/officeDocument/2006/relationships/notesMaster" Target="/ppt/notesMasters/notesMaster1.xml" Id="R60a33d2a08f34a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5bcce0f2634aad" /><Relationship Type="http://schemas.openxmlformats.org/officeDocument/2006/relationships/notesMaster" Target="/ppt/notesMasters/notesMaster1.xml" Id="Rc5ae78d004bd4d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0085f1db784455" /><Relationship Type="http://schemas.openxmlformats.org/officeDocument/2006/relationships/notesMaster" Target="/ppt/notesMasters/notesMaster1.xml" Id="Rb5da76fff3d045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c068ed8bad4fdd" /><Relationship Type="http://schemas.openxmlformats.org/officeDocument/2006/relationships/notesMaster" Target="/ppt/notesMasters/notesMaster1.xml" Id="R67effc41fbe745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35145a70e34a22" /><Relationship Type="http://schemas.openxmlformats.org/officeDocument/2006/relationships/notesMaster" Target="/ppt/notesMasters/notesMaster1.xml" Id="Rb7ea69f0b40040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f08a58480448fe" /><Relationship Type="http://schemas.openxmlformats.org/officeDocument/2006/relationships/notesMaster" Target="/ppt/notesMasters/notesMaster1.xml" Id="R2a3af9fcff4147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205fa7a26046a7" /><Relationship Type="http://schemas.openxmlformats.org/officeDocument/2006/relationships/notesMaster" Target="/ppt/notesMasters/notesMaster1.xml" Id="Ra74dbaafc97d43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d1b064cf134945" /><Relationship Type="http://schemas.openxmlformats.org/officeDocument/2006/relationships/notesMaster" Target="/ppt/notesMasters/notesMaster1.xml" Id="Rdc60d5f598154b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ceb92f60b74159" /><Relationship Type="http://schemas.openxmlformats.org/officeDocument/2006/relationships/notesMaster" Target="/ppt/notesMasters/notesMaster1.xml" Id="R5d8d10722fb0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Otwórz pytaniem: czy narzędzie dla narracji może zachować szybkość zwykłego pliku tekstowego, a jednocześnie dawać kontrolę znaną z edytorów grafowych?</a:t>
            </a:r>
          </a:p>
          <a:p xmlns:a="http://schemas.openxmlformats.org/drawingml/2006/main">
            <a:r>
              <a:t>Quest Editor powstał jako odpowiedź na ten konflikt. Nie zastępuje sposobu pisania — dodaje do niego strukturę, diagnostykę i możliwość wykonania.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 format tekstowy świetnie skaluje się dla autora: jest szybki, wersjonowalny i łatwy do przenoszenia.</a:t>
            </a:r>
          </a:p>
          <a:p xmlns:a="http://schemas.openxmlformats.org/drawingml/2006/main">
            <a:r>
              <a:t>Problem pojawia się wtedy, gdy rośnie liczba etapów, kotwic i przejść. Autor nadal widzi linie, choć gracz zobaczy graf decyzji.</a:t>
            </a:r>
          </a:p>
          <a:p xmlns:a="http://schemas.openxmlformats.org/drawingml/2006/main">
            <a:r>
              <a:t>To właśnie tę różnicę perspektyw ma zlikwidować narzędzie.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</a:t>
            </a:r>
          </a:p>
          <a:p xmlns:a="http://schemas.openxmlformats.org/drawingml/2006/main">
            <a:r>
              <a:t>- /Users/torgerd/Documents/GitHub/quest_editor/tests/fixtures/tkacze_snow_full.txt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Centralne założenie brzmi: nie utrzymujemy pięciu kopii danych. Utrzymujemy jeden tekst i pięć perspektyw wyprowadzanych z tego samego modelu.</a:t>
            </a:r>
          </a:p>
          <a:p xmlns:a="http://schemas.openxmlformats.org/drawingml/2006/main">
            <a:r>
              <a:t>Dzięki temu poprawka w dialogu natychmiast zmienia graf, mapę etapów, lens postaci i symulację.</a:t>
            </a:r>
          </a:p>
          <a:p xmlns:a="http://schemas.openxmlformats.org/drawingml/2006/main">
            <a:r>
              <a:t>To eliminuje synchronizację między dokumentem pisarskim a osobnym schematem technicznym.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/Users/torgerd/Documents/GitHub/quest_editor/index.html:1982</a:t>
            </a:r>
          </a:p>
          <a:p xmlns:a="http://schemas.openxmlformats.org/drawingml/2006/main">
            <a:r>
              <a:t>- /Users/torgerd/Documents/GitHub/quest_editor/index.html:2856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Format wykorzystuje kilka rozpoznawalnych znaczników: etap, speaker, opcje gracza, kotwice i skoki.</a:t>
            </a:r>
          </a:p>
          <a:p xmlns:a="http://schemas.openxmlformats.org/drawingml/2006/main">
            <a:r>
              <a:t>Autor nie klika w rozbudowane formularze; pisze naturalnym rytmem, a składnia dopowiada strukturę.</a:t>
            </a:r>
          </a:p>
          <a:p xmlns:a="http://schemas.openxmlformats.org/drawingml/2006/main">
            <a:r>
              <a:t>Parser normalizuje identyfikatory etapów i rozwiązuje kotwice w obrębie konkretnego bloku dialogowego.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/Users/torgerd/Documents/GitHub/quest_editor/index.html:1962</a:t>
            </a:r>
          </a:p>
          <a:p xmlns:a="http://schemas.openxmlformats.org/drawingml/2006/main">
            <a:r>
              <a:t>- /Users/torgerd/Documents/GitHub/quest_editor/index.html:1982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Silnik najpierw parsuje tekst do modelu, a potem buduje osobny graf dialogów i graf etapów.</a:t>
            </a:r>
          </a:p>
          <a:p xmlns:a="http://schemas.openxmlformats.org/drawingml/2006/main">
            <a:r>
              <a:t>Linter pracuje na strukturze, więc potrafi nazwać błąd i wskazać linię źródła.</a:t>
            </a:r>
          </a:p>
          <a:p xmlns:a="http://schemas.openxmlformats.org/drawingml/2006/main">
            <a:r>
              <a:t>Widoki są pochodne: po zmianie tekstu współdzielony parse i lint są buforowane, a odświeżenie jest opóźniane tak, by edytor pozostał responsywny.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/Users/torgerd/Documents/GitHub/quest_editor/index.html:1982</a:t>
            </a:r>
          </a:p>
          <a:p xmlns:a="http://schemas.openxmlformats.org/drawingml/2006/main">
            <a:r>
              <a:t>- /Users/torgerd/Documents/GitHub/quest_editor/index.html:2372</a:t>
            </a:r>
          </a:p>
          <a:p xmlns:a="http://schemas.openxmlformats.org/drawingml/2006/main">
            <a:r>
              <a:t>- /Users/torgerd/Documents/GitHub/quest_editor/index.html:2748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jest podstawowy tryb pracy: po lewej pozostaje pełny tekst, po prawej mapa etapów.</a:t>
            </a:r>
          </a:p>
          <a:p xmlns:a="http://schemas.openxmlformats.org/drawingml/2006/main">
            <a:r>
              <a:t>Autor nie musi przerywać pisania, żeby przełączyć się do osobnego narzędzia diagramowego.</a:t>
            </a:r>
          </a:p>
          <a:p xmlns:a="http://schemas.openxmlformats.org/drawingml/2006/main">
            <a:r>
              <a:t>Zaznaczenia, nawigacja i skupienie działają między widokami, więc mapa służy również do poruszania się po źródle.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/Users/torgerd/Documents/GitHub/quest_editor/.presentation_work/screens/01_text_flow.png</a:t>
            </a:r>
          </a:p>
          <a:p xmlns:a="http://schemas.openxmlformats.org/drawingml/2006/main">
            <a:r>
              <a:t>- /Users/torgerd/Documents/GitHub/quest_editor/index.html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 tym ujęciu widać najważniejszą pętlę jakościową: struktura mówi nie tylko, że coś jest niepoprawne, ale dlaczego.</a:t>
            </a:r>
          </a:p>
          <a:p xmlns:a="http://schemas.openxmlformats.org/drawingml/2006/main">
            <a:r>
              <a:t>Obok działa symulator. Nie renderuje statycznego podglądu; wykonuje dialog, obsługuje kotwice, przejścia, warunki i cofanie do wcześniejszego wyboru.</a:t>
            </a:r>
          </a:p>
          <a:p xmlns:a="http://schemas.openxmlformats.org/drawingml/2006/main">
            <a:r>
              <a:t>Autor może więc przejść od diagnozy do odtworzenia zachowania bez eksportu do gry.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/Users/torgerd/Documents/GitHub/quest_editor/.presentation_work/screens/02_graph_play.png</a:t>
            </a:r>
          </a:p>
          <a:p xmlns:a="http://schemas.openxmlformats.org/drawingml/2006/main">
            <a:r>
              <a:t>- /Users/torgerd/Documents/GitHub/quest_editor/index.html:2372</a:t>
            </a:r>
          </a:p>
          <a:p xmlns:a="http://schemas.openxmlformats.org/drawingml/2006/main">
            <a:r>
              <a:t>- /Users/torgerd/Documents/GitHub/quest_editor/index.html:9311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Character Lens odpowiada na realny problem review: kwestie jednej postaci są rozrzucone po wielu etapach i gałęziach.</a:t>
            </a:r>
          </a:p>
          <a:p xmlns:a="http://schemas.openxmlformats.org/drawingml/2006/main">
            <a:r>
              <a:t>Widok indeksuje wystąpienia, liczy bloki i słowa, a następnie pokazuje kwestie postaci razem z sąsiadującymi reakcjami.</a:t>
            </a:r>
          </a:p>
          <a:p xmlns:a="http://schemas.openxmlformats.org/drawingml/2006/main">
            <a:r>
              <a:t>Blok można poprawić bezpośrednio, a narzędzie bezpiecznie podmienia odpowiadający mu zakres linii.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/Users/torgerd/Documents/GitHub/quest_editor/.presentation_work/screens/03_character_text.png</a:t>
            </a:r>
          </a:p>
          <a:p xmlns:a="http://schemas.openxmlformats.org/drawingml/2006/main">
            <a:r>
              <a:t>- /Users/torgerd/Documents/GitHub/quest_editor/index.html:2288</a:t>
            </a:r>
          </a:p>
          <a:p xmlns:a="http://schemas.openxmlformats.org/drawingml/2006/main">
            <a:r>
              <a:t>- /Users/torgerd/Documents/GitHub/quest_editor/index.html:6915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 założenia są ważniejsze niż lista funkcji, bo określają granice systemu.</a:t>
            </a:r>
          </a:p>
          <a:p xmlns:a="http://schemas.openxmlformats.org/drawingml/2006/main">
            <a:r>
              <a:t>Tekst jest kanoniczny; błędy należą do modelu; widoki nie kopiują danych; lokalny autosave nie udaje świadomego zapisu pliku.</a:t>
            </a:r>
          </a:p>
          <a:p xmlns:a="http://schemas.openxmlformats.org/drawingml/2006/main">
            <a:r>
              <a:t>Dzięki temu narzędzie pozostaje lekkie, a zachowanie poszczególnych trybów daje się przewidzieć.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/Users/torgerd/Documents/GitHub/quest_editor/index.html:1381</a:t>
            </a:r>
          </a:p>
          <a:p xmlns:a="http://schemas.openxmlformats.org/drawingml/2006/main">
            <a:r>
              <a:t>- /Users/torgerd/Documents/GitHub/quest_editor/index.html:2748</a:t>
            </a:r>
          </a:p>
          <a:p xmlns:a="http://schemas.openxmlformats.org/drawingml/2006/main">
            <a:r>
              <a:t>- /Users/torgerd/Documents/GitHub/quest_editor/index.html:8348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Wykonanie jest celowo pragmatyczne: jeden plik aplikacji, jedna IIFE, zero zewnętrznych skryptów i arkuszy stylów.</a:t>
            </a:r>
          </a:p>
          <a:p xmlns:a="http://schemas.openxmlformats.org/drawingml/2006/main">
            <a:r>
              <a:t>To ogranicza narzut uruchomienia i dystrybucji, ale przenosi odpowiedzialność na dyscyplinę modułów wewnętrznych i testy strukturalne.</a:t>
            </a:r>
          </a:p>
          <a:p xmlns:a="http://schemas.openxmlformats.org/drawingml/2006/main">
            <a:r>
              <a:t>Grafy są generowane jako SVG, a szkic jest automatycznie zapisywany co pięć sekund w localStorage.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</a:t>
            </a:r>
          </a:p>
          <a:p xmlns:a="http://schemas.openxmlformats.org/drawingml/2006/main">
            <a:r>
              <a:t>- /Users/torgerd/Documents/GitHub/quest_editor/index.html:8348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nie porównuje obrazków. Wyciąga z aplikacji funkcje parse, lint i layoutFlow, a następnie uruchamia je na dwóch fixture'ach.</a:t>
            </a:r>
          </a:p>
          <a:p xmlns:a="http://schemas.openxmlformats.org/drawingml/2006/main">
            <a:r>
              <a:t>Najważniejszy test to pełny quest Tkacze Snów: 119 etapów, 126 krawędzi i pełna osiągalność od startu.</a:t>
            </a:r>
          </a:p>
          <a:p xmlns:a="http://schemas.openxmlformats.org/drawingml/2006/main">
            <a:r>
              <a:t>Dodatkowo każdy etap musi otrzymać poprawną pozycję w layoucie Flow. Błędy realnego fixture'a są jawnie kalibrowane w baseline, a nie zamiatane pod dywan.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/Users/torgerd/Documents/GitHub/quest_editor/tests/snapshot.js</a:t>
            </a:r>
          </a:p>
          <a:p xmlns:a="http://schemas.openxmlformats.org/drawingml/2006/main">
            <a:r>
              <a:t>- /Users/torgerd/Documents/GitHub/quest_editor/tests/fixtures/tkacze_snow_full.txt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Najważniejszym efektem nie jest pojedyncza funkcja, lecz skrócenie pętli pracy.</a:t>
            </a:r>
          </a:p>
          <a:p xmlns:a="http://schemas.openxmlformats.org/drawingml/2006/main">
            <a:r>
              <a:t>Autor pisze, od razu dostaje kontrolę struktury, może zobaczyć mapę, przejść ścieżkę, zrobić review i wyeksportować wynik.</a:t>
            </a:r>
          </a:p>
          <a:p xmlns:a="http://schemas.openxmlformats.org/drawingml/2006/main">
            <a:r>
              <a:t>Ponieważ każdy krok korzysta z tego samego źródła, znika koszt ręcznego utrzymywania zgodności między dokumentami.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Wróć do pytania z początku: czy można zachować szybkość tekstu i zyskać kontrolę grafu? W tym projekcie odpowiedzią jest wykonywalny model wyprowadzany z tekstu.</a:t>
            </a:r>
          </a:p>
          <a:p xmlns:a="http://schemas.openxmlformats.org/drawingml/2006/main">
            <a:r>
              <a:t>Quest Editor traktuje narrację jak kod tylko tam, gdzie pomaga to autorowi: w walidacji, wizualizacji, testowaniu i review.</a:t>
            </a:r>
          </a:p>
          <a:p xmlns:a="http://schemas.openxmlformats.org/drawingml/2006/main">
            <a:r>
              <a:t>Zamknij trzema efektami: szybciej pisać, wcześniej wykrywać i świadomie testować. Następnie przejdź do pytań lub krótkiego demo na żywo.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/Users/torgerd/Documents/GitHub/quest_editor/index.html</a:t>
            </a:r>
          </a:p>
          <a:p xmlns:a="http://schemas.openxmlformats.org/drawingml/2006/main">
            <a:r>
              <a:t>- /Users/torgerd/Documents/GitHub/quest_editor/tests/snapshot.js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fe7df9f064c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4e5a7c243543ec" /><Relationship Type="http://schemas.openxmlformats.org/officeDocument/2006/relationships/slideLayout" Target="/ppt/slideLayouts/slideLayout1.xml" Id="R17652b3a4cde48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652b3a4cde48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c36a73ea5420d" /><Relationship Type="http://schemas.openxmlformats.org/officeDocument/2006/relationships/notesSlide" Target="/ppt/notesSlides/notesSlide1.xml" Id="R4e7a16bf3e89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79a83b5f34b31" /><Relationship Type="http://schemas.openxmlformats.org/officeDocument/2006/relationships/notesSlide" Target="/ppt/notesSlides/notesSlide2.xml" Id="R865317f4112a46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8d70ad4d7465c" /><Relationship Type="http://schemas.openxmlformats.org/officeDocument/2006/relationships/notesSlide" Target="/ppt/notesSlides/notesSlide3.xml" Id="Re74245286c1740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d1c004fb14c93" /><Relationship Type="http://schemas.openxmlformats.org/officeDocument/2006/relationships/notesSlide" Target="/ppt/notesSlides/notesSlide4.xml" Id="R41295e734f7242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d4e34d57548ec" /><Relationship Type="http://schemas.openxmlformats.org/officeDocument/2006/relationships/notesSlide" Target="/ppt/notesSlides/notesSlide5.xml" Id="R53a67e50c7bb4c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a982573fe498c" /><Relationship Type="http://schemas.openxmlformats.org/officeDocument/2006/relationships/image" Target="/ppt/media/image.jpeg" Id="R56dd30b953cd4122" /><Relationship Type="http://schemas.openxmlformats.org/officeDocument/2006/relationships/notesSlide" Target="/ppt/notesSlides/notesSlide6.xml" Id="Rb090e99e4a9b44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fe0076df8455b" /><Relationship Type="http://schemas.openxmlformats.org/officeDocument/2006/relationships/image" Target="/ppt/media/image2.jpeg" Id="R820f1d5c8cbb4c6b" /><Relationship Type="http://schemas.openxmlformats.org/officeDocument/2006/relationships/notesSlide" Target="/ppt/notesSlides/notesSlide7.xml" Id="Rb499bb6a6741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114d55385470d" /><Relationship Type="http://schemas.openxmlformats.org/officeDocument/2006/relationships/image" Target="/ppt/media/image3.jpeg" Id="Rd0fe8dcc0ec046e2" /><Relationship Type="http://schemas.openxmlformats.org/officeDocument/2006/relationships/notesSlide" Target="/ppt/notesSlides/notesSlide8.xml" Id="Rc0e996374d5248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7018cac544b5c" /><Relationship Type="http://schemas.openxmlformats.org/officeDocument/2006/relationships/notesSlide" Target="/ppt/notesSlides/notesSlide9.xml" Id="R0f45f535218849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8974d52cf4a59" /><Relationship Type="http://schemas.openxmlformats.org/officeDocument/2006/relationships/notesSlide" Target="/ppt/notesSlides/notesSlide10.xml" Id="R12d8ffb9b8ec4f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efbca718b4818" /><Relationship Type="http://schemas.openxmlformats.org/officeDocument/2006/relationships/notesSlide" Target="/ppt/notesSlides/notesSlide11.xml" Id="Ra999f894cbff49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dfe2b263241f2" /><Relationship Type="http://schemas.openxmlformats.org/officeDocument/2006/relationships/notesSlide" Target="/ppt/notesSlides/notesSlide12.xml" Id="R31c845a50f8047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a4996ff3d4ac5" /><Relationship Type="http://schemas.openxmlformats.org/officeDocument/2006/relationships/notesSlide" Target="/ppt/notesSlides/notesSlide13.xml" Id="R411f17c2c75f45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B99CF78-BCFB-46E6-9E82-A8791E0F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PREZENTACJA KONFERENCYJNA · v31.22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109A1A2-5A30-4D02-B22D-E30CC640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4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 Editor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1F8DCD4-D3CB-414F-9FC0-D4BDD158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od tekstu do działającej fabuły</a:t>
            </a:r>
          </a:p>
        </p:txBody>
      </p:sp>
      <p:sp>
        <p:nvSpPr>
          <p:cNvPr id="4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3CFFEC50-36C8-4C60-849C-C3999B64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Lekki format tekstowy, kontrola struktury i symulacja wyborów w jednym lokalnym narzędziu.</a:t>
            </a:r>
          </a:p>
        </p:txBody>
      </p:sp>
      <p:sp>
        <p:nvSpPr>
          <p:cNvPr id="5" name="rule-1">
            <a:extLst xmlns:a="http://schemas.openxmlformats.org/drawingml/2006/main">
              <a:ext uri="{FF2B5EF4-FFF2-40B4-BE49-F238E27FC236}">
                <a16:creationId xmlns:a16="http://schemas.microsoft.com/office/drawing/2014/main" id="{928B448D-79FC-406E-8354-452B341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77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5966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5002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5153ECFA-4B77-4B0A-B89D-CCB5443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text-3">
            <a:extLst xmlns:a="http://schemas.openxmlformats.org/drawingml/2006/main">
              <a:ext uri="{FF2B5EF4-FFF2-40B4-BE49-F238E27FC236}">
                <a16:creationId xmlns:a16="http://schemas.microsoft.com/office/drawing/2014/main" id="{F70071EE-ACA6-4BAB-8644-DDEDD58D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TEKST ≠ WIDOCZNA STRUKTURA</a:t>
            </a:r>
          </a:p>
        </p:txBody>
      </p:sp>
      <p:sp>
        <p:nvSpPr>
          <p:cNvPr id="3" name="text-4">
            <a:extLst xmlns:a="http://schemas.openxmlformats.org/drawingml/2006/main">
              <a:ext uri="{FF2B5EF4-FFF2-40B4-BE49-F238E27FC236}">
                <a16:creationId xmlns:a16="http://schemas.microsoft.com/office/drawing/2014/main" id="{543FC607-F43F-466C-A30C-1B6BCDE5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076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Plik rośnie liniowo.</a:t>
            </a:r>
          </a:p>
          <a:p xmlns:a="http://schemas.openxmlformats.org/drawingml/2006/main">
            <a:pPr algn="l">
              <a:defRPr sz="51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Złożoność questa — wykładniczo.</a:t>
            </a:r>
          </a:p>
        </p:txBody>
      </p:sp>
      <p:sp>
        <p:nvSpPr>
          <p:cNvPr id="4" name="text-5">
            <a:extLst xmlns:a="http://schemas.openxmlformats.org/drawingml/2006/main">
              <a:ext uri="{FF2B5EF4-FFF2-40B4-BE49-F238E27FC236}">
                <a16:creationId xmlns:a16="http://schemas.microsoft.com/office/drawing/2014/main" id="{67FEDD7B-DA3E-423B-AEFC-335C90D7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Nie widać martwych gałęzi, błędnych skoków ani tego, co naprawdę przejdzie gracz.</a:t>
            </a:r>
          </a:p>
        </p:txBody>
      </p:sp>
    </p:spTree>
    <p:extLst>
      <p:ext uri="{BB962C8B-B14F-4D97-AF65-F5344CB8AC3E}">
        <p14:creationId xmlns:p14="http://schemas.microsoft.com/office/powerpoint/2010/main" val="745776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1B2D76A-7621-453C-8E07-8ED6A468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Jeden tekst, pięć perspektyw</a:t>
            </a:r>
          </a:p>
        </p:txBody>
      </p:sp>
      <p:sp>
        <p:nvSpPr>
          <p:cNvPr id="2" name="rule-6">
            <a:extLst xmlns:a="http://schemas.openxmlformats.org/drawingml/2006/main">
              <a:ext uri="{FF2B5EF4-FFF2-40B4-BE49-F238E27FC236}">
                <a16:creationId xmlns:a16="http://schemas.microsoft.com/office/drawing/2014/main" id="{B2F8B466-EA71-4A3D-9028-E5011264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05225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9B44DC8E-E524-4908-8A8F-A3660B9C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4" name="rule-8">
            <a:extLst xmlns:a="http://schemas.openxmlformats.org/drawingml/2006/main">
              <a:ext uri="{FF2B5EF4-FFF2-40B4-BE49-F238E27FC236}">
                <a16:creationId xmlns:a16="http://schemas.microsoft.com/office/drawing/2014/main" id="{27EA93C1-D1BE-4A8A-838A-6AB204F1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33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5" name="rule-9">
            <a:extLst xmlns:a="http://schemas.openxmlformats.org/drawingml/2006/main">
              <a:ext uri="{FF2B5EF4-FFF2-40B4-BE49-F238E27FC236}">
                <a16:creationId xmlns:a16="http://schemas.microsoft.com/office/drawing/2014/main" id="{19FC42BF-7136-46FC-AAC3-BFFBA5BC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575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6" name="rule-10">
            <a:extLst xmlns:a="http://schemas.openxmlformats.org/drawingml/2006/main">
              <a:ext uri="{FF2B5EF4-FFF2-40B4-BE49-F238E27FC236}">
                <a16:creationId xmlns:a16="http://schemas.microsoft.com/office/drawing/2014/main" id="{EF3E0EFA-8458-40B7-B834-A29887C9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814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7" name="rule-11">
            <a:extLst xmlns:a="http://schemas.openxmlformats.org/drawingml/2006/main">
              <a:ext uri="{FF2B5EF4-FFF2-40B4-BE49-F238E27FC236}">
                <a16:creationId xmlns:a16="http://schemas.microsoft.com/office/drawing/2014/main" id="{74B8ED2D-AC94-4D6B-A818-A9B2919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8" name="vrule-12">
            <a:extLst xmlns:a="http://schemas.openxmlformats.org/drawingml/2006/main">
              <a:ext uri="{FF2B5EF4-FFF2-40B4-BE49-F238E27FC236}">
                <a16:creationId xmlns:a16="http://schemas.microsoft.com/office/drawing/2014/main" id="{6B04281C-387B-419F-8F51-C6B9218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97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ADF"/>
            </a:solidFill>
            <a:prstDash val="solid"/>
          </a:ln>
        </p:spPr>
      </p:sp>
      <p:sp>
        <p:nvSpPr>
          <p:cNvPr id="9" name="shape-13">
            <a:extLst xmlns:a="http://schemas.openxmlformats.org/drawingml/2006/main">
              <a:ext uri="{FF2B5EF4-FFF2-40B4-BE49-F238E27FC236}">
                <a16:creationId xmlns:a16="http://schemas.microsoft.com/office/drawing/2014/main" id="{E4136FDD-DBF3-409F-A113-E28C0C5A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181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FE3FCD37-C6E4-4660-90A1-AC5798DE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TEKST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4454BBF9-EA78-4167-AD3E-C463A061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Autor pisze dialogi, etapy, kotwice i warunki w lekkim DSL-u.</a:t>
            </a:r>
          </a:p>
        </p:txBody>
      </p:sp>
      <p:sp>
        <p:nvSpPr>
          <p:cNvPr id="12" name="shape-16">
            <a:extLst xmlns:a="http://schemas.openxmlformats.org/drawingml/2006/main">
              <a:ext uri="{FF2B5EF4-FFF2-40B4-BE49-F238E27FC236}">
                <a16:creationId xmlns:a16="http://schemas.microsoft.com/office/drawing/2014/main" id="{97FF039F-C56B-4D6E-9379-30B2724B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905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DCFD54D6-8CEF-44FE-AB44-D485895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QUESTA</a:t>
            </a:r>
          </a:p>
        </p:txBody>
      </p:sp>
      <p:sp>
        <p:nvSpPr>
          <p:cNvPr id="14" name="text-18">
            <a:extLst xmlns:a="http://schemas.openxmlformats.org/drawingml/2006/main">
              <a:ext uri="{FF2B5EF4-FFF2-40B4-BE49-F238E27FC236}">
                <a16:creationId xmlns:a16="http://schemas.microsoft.com/office/drawing/2014/main" id="{F45ED336-B3B2-4625-A497-025A69FD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240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Tekst</a:t>
            </a:r>
          </a:p>
        </p:txBody>
      </p:sp>
      <p:sp>
        <p:nvSpPr>
          <p:cNvPr id="15" name="text-19">
            <a:extLst xmlns:a="http://schemas.openxmlformats.org/drawingml/2006/main">
              <a:ext uri="{FF2B5EF4-FFF2-40B4-BE49-F238E27FC236}">
                <a16:creationId xmlns:a16="http://schemas.microsoft.com/office/drawing/2014/main" id="{8C4758E2-D1CD-4691-8092-EE56096D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478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pisanie i autocomplete</a:t>
            </a:r>
          </a:p>
        </p:txBody>
      </p:sp>
      <p:sp>
        <p:nvSpPr>
          <p:cNvPr id="16" name="text-20">
            <a:extLst xmlns:a="http://schemas.openxmlformats.org/drawingml/2006/main">
              <a:ext uri="{FF2B5EF4-FFF2-40B4-BE49-F238E27FC236}">
                <a16:creationId xmlns:a16="http://schemas.microsoft.com/office/drawing/2014/main" id="{84845BA3-DF2E-4182-98FE-96C9C552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79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Graf</a:t>
            </a:r>
          </a:p>
        </p:txBody>
      </p:sp>
      <p:sp>
        <p:nvSpPr>
          <p:cNvPr id="17" name="text-21">
            <a:extLst xmlns:a="http://schemas.openxmlformats.org/drawingml/2006/main">
              <a:ext uri="{FF2B5EF4-FFF2-40B4-BE49-F238E27FC236}">
                <a16:creationId xmlns:a16="http://schemas.microsoft.com/office/drawing/2014/main" id="{3929BEC8-DB24-48C5-86CF-D2F909B3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717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lokalne rozgałęzienia</a:t>
            </a:r>
          </a:p>
        </p:txBody>
      </p:sp>
      <p:sp>
        <p:nvSpPr>
          <p:cNvPr id="18" name="text-22">
            <a:extLst xmlns:a="http://schemas.openxmlformats.org/drawingml/2006/main">
              <a:ext uri="{FF2B5EF4-FFF2-40B4-BE49-F238E27FC236}">
                <a16:creationId xmlns:a16="http://schemas.microsoft.com/office/drawing/2014/main" id="{D5639182-EAB9-475B-BB82-DEEA524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718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Flow questa</a:t>
            </a:r>
          </a:p>
        </p:txBody>
      </p:sp>
      <p:sp>
        <p:nvSpPr>
          <p:cNvPr id="19" name="text-23">
            <a:extLst xmlns:a="http://schemas.openxmlformats.org/drawingml/2006/main">
              <a:ext uri="{FF2B5EF4-FFF2-40B4-BE49-F238E27FC236}">
                <a16:creationId xmlns:a16="http://schemas.microsoft.com/office/drawing/2014/main" id="{290C3752-437D-4550-9C23-9C042263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956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mapa etapów i warunków</a:t>
            </a:r>
          </a:p>
        </p:txBody>
      </p:sp>
      <p:sp>
        <p:nvSpPr>
          <p:cNvPr id="20" name="text-24">
            <a:extLst xmlns:a="http://schemas.openxmlformats.org/drawingml/2006/main">
              <a:ext uri="{FF2B5EF4-FFF2-40B4-BE49-F238E27FC236}">
                <a16:creationId xmlns:a16="http://schemas.microsoft.com/office/drawing/2014/main" id="{94A24E15-B836-4F03-AA71-EEEF32B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957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Character Lens</a:t>
            </a:r>
          </a:p>
        </p:txBody>
      </p:sp>
      <p:sp>
        <p:nvSpPr>
          <p:cNvPr id="21" name="text-25">
            <a:extLst xmlns:a="http://schemas.openxmlformats.org/drawingml/2006/main">
              <a:ext uri="{FF2B5EF4-FFF2-40B4-BE49-F238E27FC236}">
                <a16:creationId xmlns:a16="http://schemas.microsoft.com/office/drawing/2014/main" id="{C0CE2272-8F64-4D82-A795-FB026A4F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95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review w kontekście postaci</a:t>
            </a:r>
          </a:p>
        </p:txBody>
      </p:sp>
      <p:sp>
        <p:nvSpPr>
          <p:cNvPr id="22" name="text-26">
            <a:extLst xmlns:a="http://schemas.openxmlformats.org/drawingml/2006/main">
              <a:ext uri="{FF2B5EF4-FFF2-40B4-BE49-F238E27FC236}">
                <a16:creationId xmlns:a16="http://schemas.microsoft.com/office/drawing/2014/main" id="{53DD7F0C-7801-488B-9DCB-B908A7DC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rPr>
              <a:t>Play</a:t>
            </a:r>
          </a:p>
        </p:txBody>
      </p:sp>
      <p:sp>
        <p:nvSpPr>
          <p:cNvPr id="23" name="text-27">
            <a:extLst xmlns:a="http://schemas.openxmlformats.org/drawingml/2006/main">
              <a:ext uri="{FF2B5EF4-FFF2-40B4-BE49-F238E27FC236}">
                <a16:creationId xmlns:a16="http://schemas.microsoft.com/office/drawing/2014/main" id="{C7C44357-2E6A-4571-921B-060BBE37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434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wykonanie ścieżki gracza</a:t>
            </a:r>
          </a:p>
        </p:txBody>
      </p:sp>
      <p:sp>
        <p:nvSpPr>
          <p:cNvPr id="24" name="footer-3">
            <a:extLst xmlns:a="http://schemas.openxmlformats.org/drawingml/2006/main">
              <a:ext uri="{FF2B5EF4-FFF2-40B4-BE49-F238E27FC236}">
                <a16:creationId xmlns:a16="http://schemas.microsoft.com/office/drawing/2014/main" id="{C30D717B-88A1-4618-B573-345FB2B6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25" name="footer-num-3">
            <a:extLst xmlns:a="http://schemas.openxmlformats.org/drawingml/2006/main">
              <a:ext uri="{FF2B5EF4-FFF2-40B4-BE49-F238E27FC236}">
                <a16:creationId xmlns:a16="http://schemas.microsoft.com/office/drawing/2014/main" id="{97D25449-AF82-4709-A4F2-EA9B3418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1342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B1CBE53-BF8A-4837-9EF3-CBB5FC94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Prosty dla autora, jednoznaczny dla parsera</a:t>
            </a:r>
          </a:p>
        </p:txBody>
      </p:sp>
      <p:sp>
        <p:nvSpPr>
          <p:cNvPr id="2" name="shape-28">
            <a:extLst xmlns:a="http://schemas.openxmlformats.org/drawingml/2006/main">
              <a:ext uri="{FF2B5EF4-FFF2-40B4-BE49-F238E27FC236}">
                <a16:creationId xmlns:a16="http://schemas.microsoft.com/office/drawing/2014/main" id="{AAA7BB30-A159-4046-ABAE-2F7ECB60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65722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7653D3B9-7EEF-4744-A9C6-D459B3DA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000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//BIT: Odprawa u kapitana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##ETAP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ETAP_1 ###Idź na odprawę ###Kapitan czeka.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##DIALOG *WARNIK*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*WARNIK*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Wreszcie jesteście.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*GRACZ*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Pytam o szczegóły.{1.1}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Ruszamy dalej.{ETAP_2}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{1.1}*WARNIK*</a:t>
            </a:r>
          </a:p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111827"/>
                </a:solidFill>
                <a:latin typeface="SF Mono"/>
                <a:ea typeface="SF Mono"/>
                <a:cs typeface="SF Mono"/>
              </a:rPr>
              <a:t>Utorczycy wzięli jeńców.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BFE8CD85-2162-47A9-B089-50A6F82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669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59669"/>
                </a:solidFill>
                <a:latin typeface="SF Mono"/>
                <a:ea typeface="SF Mono"/>
                <a:cs typeface="SF Mono"/>
              </a:defRPr>
            </a:pPr>
            <a:r>
              <a:rPr sz="2550" b="1" i="0">
                <a:solidFill>
                  <a:srgbClr val="059669"/>
                </a:solidFill>
                <a:latin typeface="SF Mono"/>
                <a:ea typeface="SF Mono"/>
                <a:cs typeface="SF Mono"/>
              </a:rPr>
              <a:t>ETAP_n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DE294876-DC9B-4838-9118-0C5694DC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definiuje węzeł i jego opis</a:t>
            </a:r>
          </a:p>
        </p:txBody>
      </p:sp>
      <p:sp>
        <p:nvSpPr>
          <p:cNvPr id="6" name="rule-32">
            <a:extLst xmlns:a="http://schemas.openxmlformats.org/drawingml/2006/main">
              <a:ext uri="{FF2B5EF4-FFF2-40B4-BE49-F238E27FC236}">
                <a16:creationId xmlns:a16="http://schemas.microsoft.com/office/drawing/2014/main" id="{5455DF5E-B947-48A9-B9A2-66F9074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2417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48CE92BD-EF0F-4852-A342-176E6EF0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C3AED"/>
                </a:solidFill>
                <a:latin typeface="SF Mono"/>
                <a:ea typeface="SF Mono"/>
                <a:cs typeface="SF Mono"/>
              </a:defRPr>
            </a:pPr>
            <a:r>
              <a:rPr sz="2550" b="1" i="0">
                <a:solidFill>
                  <a:srgbClr val="7C3AED"/>
                </a:solidFill>
                <a:latin typeface="SF Mono"/>
                <a:ea typeface="SF Mono"/>
                <a:cs typeface="SF Mono"/>
              </a:rPr>
              <a:t>*GRACZ*</a:t>
            </a:r>
          </a:p>
        </p:txBody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40C680A7-DBEF-4F04-96D3-81302DB8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zamienia kolejne linie w wybory</a:t>
            </a:r>
          </a:p>
        </p:txBody>
      </p:sp>
      <p:sp>
        <p:nvSpPr>
          <p:cNvPr id="9" name="rule-35">
            <a:extLst xmlns:a="http://schemas.openxmlformats.org/drawingml/2006/main">
              <a:ext uri="{FF2B5EF4-FFF2-40B4-BE49-F238E27FC236}">
                <a16:creationId xmlns:a16="http://schemas.microsoft.com/office/drawing/2014/main" id="{8678EEDF-321B-45AC-AF06-DFF9FD9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2432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0" name="text-36">
            <a:extLst xmlns:a="http://schemas.openxmlformats.org/drawingml/2006/main">
              <a:ext uri="{FF2B5EF4-FFF2-40B4-BE49-F238E27FC236}">
                <a16:creationId xmlns:a16="http://schemas.microsoft.com/office/drawing/2014/main" id="{66C506EE-DC1A-47C8-B97F-149FBE8E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67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A580C"/>
                </a:solidFill>
                <a:latin typeface="SF Mono"/>
                <a:ea typeface="SF Mono"/>
                <a:cs typeface="SF Mono"/>
              </a:defRPr>
            </a:pPr>
            <a:r>
              <a:rPr sz="2550" b="1" i="0">
                <a:solidFill>
                  <a:srgbClr val="EA580C"/>
                </a:solidFill>
                <a:latin typeface="SF Mono"/>
                <a:ea typeface="SF Mono"/>
                <a:cs typeface="SF Mono"/>
              </a:rPr>
              <a:t>{…}</a:t>
            </a:r>
          </a:p>
        </p:txBody>
      </p:sp>
      <p:sp>
        <p:nvSpPr>
          <p:cNvPr id="11" name="text-37">
            <a:extLst xmlns:a="http://schemas.openxmlformats.org/drawingml/2006/main">
              <a:ext uri="{FF2B5EF4-FFF2-40B4-BE49-F238E27FC236}">
                <a16:creationId xmlns:a16="http://schemas.microsoft.com/office/drawing/2014/main" id="{A8A34A94-0133-45A3-879A-4D902DE8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7244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tworzy kotwicę, przejście lub koniec</a:t>
            </a:r>
          </a:p>
        </p:txBody>
      </p:sp>
      <p:sp>
        <p:nvSpPr>
          <p:cNvPr id="12" name="footer-4">
            <a:extLst xmlns:a="http://schemas.openxmlformats.org/drawingml/2006/main">
              <a:ext uri="{FF2B5EF4-FFF2-40B4-BE49-F238E27FC236}">
                <a16:creationId xmlns:a16="http://schemas.microsoft.com/office/drawing/2014/main" id="{678BB678-5376-4555-94C8-F2119E66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13" name="footer-num-4">
            <a:extLst xmlns:a="http://schemas.openxmlformats.org/drawingml/2006/main">
              <a:ext uri="{FF2B5EF4-FFF2-40B4-BE49-F238E27FC236}">
                <a16:creationId xmlns:a16="http://schemas.microsoft.com/office/drawing/2014/main" id="{7BE461D7-9537-4FC5-BCA9-512B9F53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4549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6D1E6F7-9BEA-4EBB-9740-7C22C2D9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Jeden model napędza wszystkie widoki</a:t>
            </a:r>
          </a:p>
        </p:txBody>
      </p:sp>
      <p:sp>
        <p:nvSpPr>
          <p:cNvPr id="2" name="rule-38">
            <a:extLst xmlns:a="http://schemas.openxmlformats.org/drawingml/2006/main">
              <a:ext uri="{FF2B5EF4-FFF2-40B4-BE49-F238E27FC236}">
                <a16:creationId xmlns:a16="http://schemas.microsoft.com/office/drawing/2014/main" id="{62A8E597-2C54-47B7-BC84-083B6F0D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944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ADF"/>
            </a:solidFill>
            <a:prstDash val="solid"/>
          </a:ln>
        </p:spPr>
      </p:sp>
      <p:sp>
        <p:nvSpPr>
          <p:cNvPr id="3" name="shape-39">
            <a:extLst xmlns:a="http://schemas.openxmlformats.org/drawingml/2006/main">
              <a:ext uri="{FF2B5EF4-FFF2-40B4-BE49-F238E27FC236}">
                <a16:creationId xmlns:a16="http://schemas.microsoft.com/office/drawing/2014/main" id="{53B66099-6491-4512-9038-7677A9C7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926A8AD9-49B0-4BFF-8D27-8AF390CF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B047E08C-7C65-4345-A780-34245071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PARSE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54834CC6-8D10-4064-8846-CBACEBC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tekst → etapy, dialogi, opcje, krawędzie</a:t>
            </a:r>
          </a:p>
        </p:txBody>
      </p:sp>
      <p:sp>
        <p:nvSpPr>
          <p:cNvPr id="7" name="shape-43">
            <a:extLst xmlns:a="http://schemas.openxmlformats.org/drawingml/2006/main">
              <a:ext uri="{FF2B5EF4-FFF2-40B4-BE49-F238E27FC236}">
                <a16:creationId xmlns:a16="http://schemas.microsoft.com/office/drawing/2014/main" id="{E1FE9E19-20C3-4563-A99F-5EAAF613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4">
            <a:extLst xmlns:a="http://schemas.openxmlformats.org/drawingml/2006/main">
              <a:ext uri="{FF2B5EF4-FFF2-40B4-BE49-F238E27FC236}">
                <a16:creationId xmlns:a16="http://schemas.microsoft.com/office/drawing/2014/main" id="{136315F6-2A59-4714-8FB0-E74D798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38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-45">
            <a:extLst xmlns:a="http://schemas.openxmlformats.org/drawingml/2006/main">
              <a:ext uri="{FF2B5EF4-FFF2-40B4-BE49-F238E27FC236}">
                <a16:creationId xmlns:a16="http://schemas.microsoft.com/office/drawing/2014/main" id="{16740650-E8E3-49EA-995F-34D79866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19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0" name="text-46">
            <a:extLst xmlns:a="http://schemas.openxmlformats.org/drawingml/2006/main">
              <a:ext uri="{FF2B5EF4-FFF2-40B4-BE49-F238E27FC236}">
                <a16:creationId xmlns:a16="http://schemas.microsoft.com/office/drawing/2014/main" id="{4D19FBA8-DD78-48CB-B244-D45343E1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9052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dwa grafy: dialogowy i międzyetapowy</a:t>
            </a:r>
          </a:p>
        </p:txBody>
      </p:sp>
      <p:sp>
        <p:nvSpPr>
          <p:cNvPr id="11" name="shape-47">
            <a:extLst xmlns:a="http://schemas.openxmlformats.org/drawingml/2006/main">
              <a:ext uri="{FF2B5EF4-FFF2-40B4-BE49-F238E27FC236}">
                <a16:creationId xmlns:a16="http://schemas.microsoft.com/office/drawing/2014/main" id="{08B038ED-C0B6-4586-9A4A-2A4FA30B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8">
            <a:extLst xmlns:a="http://schemas.openxmlformats.org/drawingml/2006/main">
              <a:ext uri="{FF2B5EF4-FFF2-40B4-BE49-F238E27FC236}">
                <a16:creationId xmlns:a16="http://schemas.microsoft.com/office/drawing/2014/main" id="{F29A803D-A456-4B7E-8B4C-2F22F675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-49">
            <a:extLst xmlns:a="http://schemas.openxmlformats.org/drawingml/2006/main">
              <a:ext uri="{FF2B5EF4-FFF2-40B4-BE49-F238E27FC236}">
                <a16:creationId xmlns:a16="http://schemas.microsoft.com/office/drawing/2014/main" id="{2BE370E9-F9CF-4539-BC6F-04D64B60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LINT</a:t>
            </a:r>
          </a:p>
        </p:txBody>
      </p:sp>
      <p:sp>
        <p:nvSpPr>
          <p:cNvPr id="14" name="text-50">
            <a:extLst xmlns:a="http://schemas.openxmlformats.org/drawingml/2006/main">
              <a:ext uri="{FF2B5EF4-FFF2-40B4-BE49-F238E27FC236}">
                <a16:creationId xmlns:a16="http://schemas.microsoft.com/office/drawing/2014/main" id="{DA281125-BAF2-4F01-9C36-00CFC19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błędy skoków, kotwic i granic gałęzi</a:t>
            </a:r>
          </a:p>
        </p:txBody>
      </p:sp>
      <p:sp>
        <p:nvSpPr>
          <p:cNvPr id="15" name="shape-51">
            <a:extLst xmlns:a="http://schemas.openxmlformats.org/drawingml/2006/main">
              <a:ext uri="{FF2B5EF4-FFF2-40B4-BE49-F238E27FC236}">
                <a16:creationId xmlns:a16="http://schemas.microsoft.com/office/drawing/2014/main" id="{3DBCD239-EF39-4C40-B6E2-8BD4582F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52">
            <a:extLst xmlns:a="http://schemas.openxmlformats.org/drawingml/2006/main">
              <a:ext uri="{FF2B5EF4-FFF2-40B4-BE49-F238E27FC236}">
                <a16:creationId xmlns:a16="http://schemas.microsoft.com/office/drawing/2014/main" id="{E7A17F55-E43D-4892-9415-EBA6A24C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text-53">
            <a:extLst xmlns:a="http://schemas.openxmlformats.org/drawingml/2006/main">
              <a:ext uri="{FF2B5EF4-FFF2-40B4-BE49-F238E27FC236}">
                <a16:creationId xmlns:a16="http://schemas.microsoft.com/office/drawing/2014/main" id="{99890AEF-0914-4C41-9B74-E29606F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419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WIDOKI</a:t>
            </a:r>
          </a:p>
        </p:txBody>
      </p:sp>
      <p:sp>
        <p:nvSpPr>
          <p:cNvPr id="18" name="text-54">
            <a:extLst xmlns:a="http://schemas.openxmlformats.org/drawingml/2006/main">
              <a:ext uri="{FF2B5EF4-FFF2-40B4-BE49-F238E27FC236}">
                <a16:creationId xmlns:a16="http://schemas.microsoft.com/office/drawing/2014/main" id="{AD3471DA-C760-408F-8664-F74FB8C5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905250"/>
            <a:ext cx="2247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SVG, lens, play, review i eksport</a:t>
            </a:r>
          </a:p>
        </p:txBody>
      </p:sp>
      <p:sp>
        <p:nvSpPr>
          <p:cNvPr id="19" name="text-55">
            <a:extLst xmlns:a="http://schemas.openxmlformats.org/drawingml/2006/main">
              <a:ext uri="{FF2B5EF4-FFF2-40B4-BE49-F238E27FC236}">
                <a16:creationId xmlns:a16="http://schemas.microsoft.com/office/drawing/2014/main" id="{6B499377-E192-4AAF-B3DA-52DA1D9E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Zmiana źródła unieważnia cache; po debounce odświeżają się wyłącznie widoki pochodne.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578261DE-53A4-4AAD-99A4-FD71208E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21" name="footer-num-5">
            <a:extLst xmlns:a="http://schemas.openxmlformats.org/drawingml/2006/main">
              <a:ext uri="{FF2B5EF4-FFF2-40B4-BE49-F238E27FC236}">
                <a16:creationId xmlns:a16="http://schemas.microsoft.com/office/drawing/2014/main" id="{3D505FE4-BAE9-4DB3-BD41-B64FF230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7351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0E975D8-AC7D-46CF-8EBB-03496DD9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Piszesz tekst i od razu widzisz mapę questa</a:t>
            </a:r>
          </a:p>
        </p:txBody>
      </p:sp>
      <p:sp>
        <p:nvSpPr>
          <p:cNvPr id="2" name="shape-56">
            <a:extLst xmlns:a="http://schemas.openxmlformats.org/drawingml/2006/main">
              <a:ext uri="{FF2B5EF4-FFF2-40B4-BE49-F238E27FC236}">
                <a16:creationId xmlns:a16="http://schemas.microsoft.com/office/drawing/2014/main" id="{7F34F47E-479F-4CFB-8C60-E439A27B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78205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d30b953cd4122"/>
          <a:stretch xmlns:a="http://schemas.openxmlformats.org/drawingml/2006/main"/>
        </p:blipFill>
        <p:spPr>
          <a:xfrm xmlns:a="http://schemas.openxmlformats.org/drawingml/2006/main">
            <a:off x="403225" y="1428750"/>
            <a:ext cx="8737600" cy="4914900"/>
          </a:xfrm>
          <a:prstGeom xmlns:a="http://schemas.openxmlformats.org/drawingml/2006/main" prst="roundRect">
            <a:avLst>
              <a:gd name="adj" fmla="val 1163"/>
            </a:avLst>
          </a:prstGeom>
        </p:spPr>
      </p:pic>
      <p:sp>
        <p:nvSpPr>
          <p:cNvPr id="4" name="shape-57">
            <a:extLst xmlns:a="http://schemas.openxmlformats.org/drawingml/2006/main">
              <a:ext uri="{FF2B5EF4-FFF2-40B4-BE49-F238E27FC236}">
                <a16:creationId xmlns:a16="http://schemas.microsoft.com/office/drawing/2014/main" id="{EF78D74E-1806-4FCC-BF64-8377C7AC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58">
            <a:extLst xmlns:a="http://schemas.openxmlformats.org/drawingml/2006/main">
              <a:ext uri="{FF2B5EF4-FFF2-40B4-BE49-F238E27FC236}">
                <a16:creationId xmlns:a16="http://schemas.microsoft.com/office/drawing/2014/main" id="{4EE4378C-9D70-4927-B323-36AA8DC6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PISANIE</a:t>
            </a:r>
          </a:p>
        </p:txBody>
      </p:sp>
      <p:sp>
        <p:nvSpPr>
          <p:cNvPr id="6" name="text-59">
            <a:extLst xmlns:a="http://schemas.openxmlformats.org/drawingml/2006/main">
              <a:ext uri="{FF2B5EF4-FFF2-40B4-BE49-F238E27FC236}">
                <a16:creationId xmlns:a16="http://schemas.microsoft.com/office/drawing/2014/main" id="{203E3A0A-0EC7-48C0-B331-90E58620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Kolorowanie składni zachowuje rytm zwykłego pliku tekstowego.</a:t>
            </a:r>
          </a:p>
        </p:txBody>
      </p:sp>
      <p:sp>
        <p:nvSpPr>
          <p:cNvPr id="7" name="shape-60">
            <a:extLst xmlns:a="http://schemas.openxmlformats.org/drawingml/2006/main">
              <a:ext uri="{FF2B5EF4-FFF2-40B4-BE49-F238E27FC236}">
                <a16:creationId xmlns:a16="http://schemas.microsoft.com/office/drawing/2014/main" id="{815E0DFF-5CDD-4C1A-94D1-1F405E79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766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1">
            <a:extLst xmlns:a="http://schemas.openxmlformats.org/drawingml/2006/main">
              <a:ext uri="{FF2B5EF4-FFF2-40B4-BE49-F238E27FC236}">
                <a16:creationId xmlns:a16="http://schemas.microsoft.com/office/drawing/2014/main" id="{51368D9D-6C08-4C71-8339-8568EB4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ORIENTACJA</a:t>
            </a:r>
          </a:p>
        </p:txBody>
      </p:sp>
      <p:sp>
        <p:nvSpPr>
          <p:cNvPr id="9" name="text-62">
            <a:extLst xmlns:a="http://schemas.openxmlformats.org/drawingml/2006/main">
              <a:ext uri="{FF2B5EF4-FFF2-40B4-BE49-F238E27FC236}">
                <a16:creationId xmlns:a16="http://schemas.microsoft.com/office/drawing/2014/main" id="{872309FD-AD99-4E7D-815F-538AC338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76725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Flow grupuje etapy w bity i pokazuje relacje między nimi.</a:t>
            </a:r>
          </a:p>
        </p:txBody>
      </p:sp>
      <p:sp>
        <p:nvSpPr>
          <p:cNvPr id="10" name="footer-6">
            <a:extLst xmlns:a="http://schemas.openxmlformats.org/drawingml/2006/main">
              <a:ext uri="{FF2B5EF4-FFF2-40B4-BE49-F238E27FC236}">
                <a16:creationId xmlns:a16="http://schemas.microsoft.com/office/drawing/2014/main" id="{3862FB11-C120-4630-AABE-62E760F6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11" name="footer-num-6">
            <a:extLst xmlns:a="http://schemas.openxmlformats.org/drawingml/2006/main">
              <a:ext uri="{FF2B5EF4-FFF2-40B4-BE49-F238E27FC236}">
                <a16:creationId xmlns:a16="http://schemas.microsoft.com/office/drawing/2014/main" id="{2CC9D7A6-07EC-439A-92AC-F2296FFD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0915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150539A-9BAC-49E1-85C2-A31E8BBB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Graf ujawnia błąd, Play pokazuje konsekwencję</a:t>
            </a:r>
          </a:p>
        </p:txBody>
      </p:sp>
      <p:sp>
        <p:nvSpPr>
          <p:cNvPr id="2" name="shape-63">
            <a:extLst xmlns:a="http://schemas.openxmlformats.org/drawingml/2006/main">
              <a:ext uri="{FF2B5EF4-FFF2-40B4-BE49-F238E27FC236}">
                <a16:creationId xmlns:a16="http://schemas.microsoft.com/office/drawing/2014/main" id="{90D7C1AC-622F-4EDE-AAB0-2B89A1E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78205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f1d5c8cbb4c6b"/>
          <a:stretch xmlns:a="http://schemas.openxmlformats.org/drawingml/2006/main"/>
        </p:blipFill>
        <p:spPr>
          <a:xfrm xmlns:a="http://schemas.openxmlformats.org/drawingml/2006/main">
            <a:off x="403225" y="1428750"/>
            <a:ext cx="8737600" cy="4914900"/>
          </a:xfrm>
          <a:prstGeom xmlns:a="http://schemas.openxmlformats.org/drawingml/2006/main" prst="roundRect">
            <a:avLst>
              <a:gd name="adj" fmla="val 1163"/>
            </a:avLst>
          </a:prstGeom>
        </p:spPr>
      </p:pic>
      <p:sp>
        <p:nvSpPr>
          <p:cNvPr id="4" name="shape-64">
            <a:extLst xmlns:a="http://schemas.openxmlformats.org/drawingml/2006/main">
              <a:ext uri="{FF2B5EF4-FFF2-40B4-BE49-F238E27FC236}">
                <a16:creationId xmlns:a16="http://schemas.microsoft.com/office/drawing/2014/main" id="{812E4157-4595-4649-855F-6E8ACBA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335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65">
            <a:extLst xmlns:a="http://schemas.openxmlformats.org/drawingml/2006/main">
              <a:ext uri="{FF2B5EF4-FFF2-40B4-BE49-F238E27FC236}">
                <a16:creationId xmlns:a16="http://schemas.microsoft.com/office/drawing/2014/main" id="{FE9725C5-7AE0-4857-8948-90612B15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LINT</a:t>
            </a:r>
          </a:p>
        </p:txBody>
      </p:sp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58D43B08-0395-433B-BE61-84B14F9C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Nielegalny skok speakera jest opisany i podlinkowany do źródła.</a:t>
            </a:r>
          </a:p>
        </p:txBody>
      </p:sp>
      <p:sp>
        <p:nvSpPr>
          <p:cNvPr id="7" name="shape-67">
            <a:extLst xmlns:a="http://schemas.openxmlformats.org/drawingml/2006/main">
              <a:ext uri="{FF2B5EF4-FFF2-40B4-BE49-F238E27FC236}">
                <a16:creationId xmlns:a16="http://schemas.microsoft.com/office/drawing/2014/main" id="{B0E83670-E525-42DB-8021-61FFF7CA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2FF66D06-0BD9-424F-AAA7-6E3B9571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rPr>
              <a:t>PLAY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512444B4-32F3-494B-AEEE-C3DBD92B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96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Ten sam model zatrzymuje się na wyborze i wykonuje decyzję gracza.</a:t>
            </a:r>
          </a:p>
        </p:txBody>
      </p:sp>
      <p:sp>
        <p:nvSpPr>
          <p:cNvPr id="10" name="footer-7">
            <a:extLst xmlns:a="http://schemas.openxmlformats.org/drawingml/2006/main">
              <a:ext uri="{FF2B5EF4-FFF2-40B4-BE49-F238E27FC236}">
                <a16:creationId xmlns:a16="http://schemas.microsoft.com/office/drawing/2014/main" id="{C79ABA21-9444-47BE-A98F-AB73D6E4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11" name="footer-num-7">
            <a:extLst xmlns:a="http://schemas.openxmlformats.org/drawingml/2006/main">
              <a:ext uri="{FF2B5EF4-FFF2-40B4-BE49-F238E27FC236}">
                <a16:creationId xmlns:a16="http://schemas.microsoft.com/office/drawing/2014/main" id="{B31FD8F0-682B-422F-B232-97A8B511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0168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C3E28ADB-4168-4FF9-9B3F-9B121D9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Character Lens porządkuje review postaci</a:t>
            </a:r>
          </a:p>
        </p:txBody>
      </p:sp>
      <p:sp>
        <p:nvSpPr>
          <p:cNvPr id="2" name="shape-70">
            <a:extLst xmlns:a="http://schemas.openxmlformats.org/drawingml/2006/main">
              <a:ext uri="{FF2B5EF4-FFF2-40B4-BE49-F238E27FC236}">
                <a16:creationId xmlns:a16="http://schemas.microsoft.com/office/drawing/2014/main" id="{2283CF1F-793C-44D3-8084-29C58C8D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78205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e8dcc0ec046e2"/>
          <a:stretch xmlns:a="http://schemas.openxmlformats.org/drawingml/2006/main"/>
        </p:blipFill>
        <p:spPr>
          <a:xfrm xmlns:a="http://schemas.openxmlformats.org/drawingml/2006/main">
            <a:off x="403225" y="1428750"/>
            <a:ext cx="8737600" cy="4914900"/>
          </a:xfrm>
          <a:prstGeom xmlns:a="http://schemas.openxmlformats.org/drawingml/2006/main" prst="roundRect">
            <a:avLst>
              <a:gd name="adj" fmla="val 1163"/>
            </a:avLst>
          </a:prstGeom>
        </p:spPr>
      </p:pic>
      <p:sp>
        <p:nvSpPr>
          <p:cNvPr id="4" name="shape-71">
            <a:extLst xmlns:a="http://schemas.openxmlformats.org/drawingml/2006/main">
              <a:ext uri="{FF2B5EF4-FFF2-40B4-BE49-F238E27FC236}">
                <a16:creationId xmlns:a16="http://schemas.microsoft.com/office/drawing/2014/main" id="{4FA6AE7D-67BA-4582-A87E-3C1C0935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335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632F7533-9684-42A6-B7E6-621EEC24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SOCZEWKA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8984DCFF-7839-48A0-A3F7-C520E34D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336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Zbiera wszystkie kwestie postaci wraz z sąsiadującą interakcją.</a:t>
            </a:r>
          </a:p>
        </p:txBody>
      </p:sp>
      <p:sp>
        <p:nvSpPr>
          <p:cNvPr id="7" name="shape-74">
            <a:extLst xmlns:a="http://schemas.openxmlformats.org/drawingml/2006/main">
              <a:ext uri="{FF2B5EF4-FFF2-40B4-BE49-F238E27FC236}">
                <a16:creationId xmlns:a16="http://schemas.microsoft.com/office/drawing/2014/main" id="{F0E06B40-EBE3-47D3-AD5B-588393B8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195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3E49A470-FBB3-44EF-B610-1E7C7736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EDYCJA</a:t>
            </a:r>
          </a:p>
        </p:txBody>
      </p:sp>
      <p:sp>
        <p:nvSpPr>
          <p:cNvPr id="9" name="text-76">
            <a:extLst xmlns:a="http://schemas.openxmlformats.org/drawingml/2006/main">
              <a:ext uri="{FF2B5EF4-FFF2-40B4-BE49-F238E27FC236}">
                <a16:creationId xmlns:a16="http://schemas.microsoft.com/office/drawing/2014/main" id="{CBA83CAC-98F3-4FED-A862-40278BC1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96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Zmiana bloku wraca do dokładnego zakresu linii w źródle.</a:t>
            </a:r>
          </a:p>
        </p:txBody>
      </p:sp>
      <p:sp>
        <p:nvSpPr>
          <p:cNvPr id="10" name="footer-8">
            <a:extLst xmlns:a="http://schemas.openxmlformats.org/drawingml/2006/main">
              <a:ext uri="{FF2B5EF4-FFF2-40B4-BE49-F238E27FC236}">
                <a16:creationId xmlns:a16="http://schemas.microsoft.com/office/drawing/2014/main" id="{53BE717E-11C5-46C1-8D8E-8B8E9C56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11" name="footer-num-8">
            <a:extLst xmlns:a="http://schemas.openxmlformats.org/drawingml/2006/main">
              <a:ext uri="{FF2B5EF4-FFF2-40B4-BE49-F238E27FC236}">
                <a16:creationId xmlns:a16="http://schemas.microsoft.com/office/drawing/2014/main" id="{7C9D751B-2F65-47E4-B31D-335FC53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3621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6F2A5C5F-5CE3-42C7-8ADF-AE7B5B1A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Cztery zasady utrzymują spójność</a:t>
            </a:r>
          </a:p>
        </p:txBody>
      </p:sp>
      <p:sp>
        <p:nvSpPr>
          <p:cNvPr id="2" name="rule-77">
            <a:extLst xmlns:a="http://schemas.openxmlformats.org/drawingml/2006/main">
              <a:ext uri="{FF2B5EF4-FFF2-40B4-BE49-F238E27FC236}">
                <a16:creationId xmlns:a16="http://schemas.microsoft.com/office/drawing/2014/main" id="{81D18818-3DA8-484A-9206-6672ADF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3" name="vrule-78">
            <a:extLst xmlns:a="http://schemas.openxmlformats.org/drawingml/2006/main">
              <a:ext uri="{FF2B5EF4-FFF2-40B4-BE49-F238E27FC236}">
                <a16:creationId xmlns:a16="http://schemas.microsoft.com/office/drawing/2014/main" id="{CBF508CF-4415-4257-92D2-B38D161C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351F24CB-D9FF-49D5-A9F6-A5480124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2F039E34-A754-411E-BB74-DE6D5099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57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Tekst jest źródłem prawdy</a:t>
            </a:r>
          </a:p>
        </p:txBody>
      </p:sp>
      <p:sp>
        <p:nvSpPr>
          <p:cNvPr id="6" name="text-81">
            <a:extLst xmlns:a="http://schemas.openxmlformats.org/drawingml/2006/main">
              <a:ext uri="{FF2B5EF4-FFF2-40B4-BE49-F238E27FC236}">
                <a16:creationId xmlns:a16="http://schemas.microsoft.com/office/drawing/2014/main" id="{20E7F798-FAA8-4A53-87BD-3C6D9BF4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Graf i symulacja nigdy nie żyją własnym życiem.</a:t>
            </a:r>
          </a:p>
        </p:txBody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BFA9F262-EB53-4B0C-A959-178AC2F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text-83">
            <a:extLst xmlns:a="http://schemas.openxmlformats.org/drawingml/2006/main">
              <a:ext uri="{FF2B5EF4-FFF2-40B4-BE49-F238E27FC236}">
                <a16:creationId xmlns:a16="http://schemas.microsoft.com/office/drawing/2014/main" id="{77DEEFC6-40A8-4829-9725-23997C65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57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Błąd jest częścią modelu</a:t>
            </a:r>
          </a:p>
        </p:txBody>
      </p:sp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81D62ABD-6B06-4FF1-83BE-6F25943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Diagnostyka zna typ problemu i linię powrotu.</a:t>
            </a:r>
          </a:p>
        </p:txBody>
      </p:sp>
      <p:sp>
        <p:nvSpPr>
          <p:cNvPr id="10" name="text-85">
            <a:extLst xmlns:a="http://schemas.openxmlformats.org/drawingml/2006/main">
              <a:ext uri="{FF2B5EF4-FFF2-40B4-BE49-F238E27FC236}">
                <a16:creationId xmlns:a16="http://schemas.microsoft.com/office/drawing/2014/main" id="{91622C39-52EC-44BA-93E7-F5270B5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ext-86">
            <a:extLst xmlns:a="http://schemas.openxmlformats.org/drawingml/2006/main">
              <a:ext uri="{FF2B5EF4-FFF2-40B4-BE49-F238E27FC236}">
                <a16:creationId xmlns:a16="http://schemas.microsoft.com/office/drawing/2014/main" id="{8EF66A6F-2FF7-4301-9CC9-F817D6D0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Widoki są pochodne</a:t>
            </a:r>
          </a:p>
        </p:txBody>
      </p:sp>
      <p:sp>
        <p:nvSpPr>
          <p:cNvPr id="12" name="text-87">
            <a:extLst xmlns:a="http://schemas.openxmlformats.org/drawingml/2006/main">
              <a:ext uri="{FF2B5EF4-FFF2-40B4-BE49-F238E27FC236}">
                <a16:creationId xmlns:a16="http://schemas.microsoft.com/office/drawing/2014/main" id="{EC67612B-7829-4F54-8D37-6CC56533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Jeden parse zasila wszystkie perspektywy i cache.</a:t>
            </a:r>
          </a:p>
        </p:txBody>
      </p:sp>
      <p:sp>
        <p:nvSpPr>
          <p:cNvPr id="13" name="text-88">
            <a:extLst xmlns:a="http://schemas.openxmlformats.org/drawingml/2006/main">
              <a:ext uri="{FF2B5EF4-FFF2-40B4-BE49-F238E27FC236}">
                <a16:creationId xmlns:a16="http://schemas.microsoft.com/office/drawing/2014/main" id="{1F5AF537-0CFB-4D76-9A28-BDB5DDA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text-89">
            <a:extLst xmlns:a="http://schemas.openxmlformats.org/drawingml/2006/main">
              <a:ext uri="{FF2B5EF4-FFF2-40B4-BE49-F238E27FC236}">
                <a16:creationId xmlns:a16="http://schemas.microsoft.com/office/drawing/2014/main" id="{53AB5713-C3D6-47B5-9B6F-88D7011A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rPr>
              <a:t>Local-first, eksport jawny</a:t>
            </a:r>
          </a:p>
        </p:txBody>
      </p:sp>
      <p:sp>
        <p:nvSpPr>
          <p:cNvPr id="15" name="text-90">
            <a:extLst xmlns:a="http://schemas.openxmlformats.org/drawingml/2006/main">
              <a:ext uri="{FF2B5EF4-FFF2-40B4-BE49-F238E27FC236}">
                <a16:creationId xmlns:a16="http://schemas.microsoft.com/office/drawing/2014/main" id="{4AB8ADB6-9B33-4A23-A5E4-45E57B0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958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Szkic zapisuje się lokalnie; plik i HTML są świadomą decyzją.</a:t>
            </a:r>
          </a:p>
        </p:txBody>
      </p:sp>
      <p:sp>
        <p:nvSpPr>
          <p:cNvPr id="16" name="footer-9">
            <a:extLst xmlns:a="http://schemas.openxmlformats.org/drawingml/2006/main">
              <a:ext uri="{FF2B5EF4-FFF2-40B4-BE49-F238E27FC236}">
                <a16:creationId xmlns:a16="http://schemas.microsoft.com/office/drawing/2014/main" id="{6AA5FFB4-B195-41EE-9429-5A4CC95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17" name="footer-num-9">
            <a:extLst xmlns:a="http://schemas.openxmlformats.org/drawingml/2006/main">
              <a:ext uri="{FF2B5EF4-FFF2-40B4-BE49-F238E27FC236}">
                <a16:creationId xmlns:a16="http://schemas.microsoft.com/office/drawing/2014/main" id="{3C51C9ED-0540-4AAB-9250-C29DDFF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88764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17EDD171-D32E-4294-877B-1F3E047A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Wykonanie: lokalna aplikacja bez builda</a:t>
            </a:r>
          </a:p>
        </p:txBody>
      </p:sp>
      <p:sp>
        <p:nvSpPr>
          <p:cNvPr id="2" name="text-91">
            <a:extLst xmlns:a="http://schemas.openxmlformats.org/drawingml/2006/main">
              <a:ext uri="{FF2B5EF4-FFF2-40B4-BE49-F238E27FC236}">
                <a16:creationId xmlns:a16="http://schemas.microsoft.com/office/drawing/2014/main" id="{9D565E09-E38C-41FD-B8BE-3855C10B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HTML, CSS i JavaScript działają bez serwera, a SVG powstaje bezpośrednio z modelu questa.</a:t>
            </a:r>
          </a:p>
        </p:txBody>
      </p:sp>
      <p:sp>
        <p:nvSpPr>
          <p:cNvPr id="3" name="shape-92">
            <a:extLst xmlns:a="http://schemas.openxmlformats.org/drawingml/2006/main">
              <a:ext uri="{FF2B5EF4-FFF2-40B4-BE49-F238E27FC236}">
                <a16:creationId xmlns:a16="http://schemas.microsoft.com/office/drawing/2014/main" id="{EF8909C7-8DF4-4E0C-A9CF-EAB1692D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93">
            <a:extLst xmlns:a="http://schemas.openxmlformats.org/drawingml/2006/main">
              <a:ext uri="{FF2B5EF4-FFF2-40B4-BE49-F238E27FC236}">
                <a16:creationId xmlns:a16="http://schemas.microsoft.com/office/drawing/2014/main" id="{70065F81-BA2B-4B39-AB10-AA9A84D4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6954B269-5ECF-4BE0-A6F7-8BD9BF94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plik aplikacji</a:t>
            </a:r>
          </a:p>
        </p:txBody>
      </p:sp>
      <p:sp>
        <p:nvSpPr>
          <p:cNvPr id="6" name="text-95">
            <a:extLst xmlns:a="http://schemas.openxmlformats.org/drawingml/2006/main">
              <a:ext uri="{FF2B5EF4-FFF2-40B4-BE49-F238E27FC236}">
                <a16:creationId xmlns:a16="http://schemas.microsoft.com/office/drawing/2014/main" id="{41FF8BB2-6DE5-4FA4-8D57-24C2004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Cały interfejs i silnik w index.html</a:t>
            </a:r>
          </a:p>
        </p:txBody>
      </p:sp>
      <p:sp>
        <p:nvSpPr>
          <p:cNvPr id="7" name="shape-96">
            <a:extLst xmlns:a="http://schemas.openxmlformats.org/drawingml/2006/main">
              <a:ext uri="{FF2B5EF4-FFF2-40B4-BE49-F238E27FC236}">
                <a16:creationId xmlns:a16="http://schemas.microsoft.com/office/drawing/2014/main" id="{D341004B-E7BB-4756-85B4-6CA5383E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622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97">
            <a:extLst xmlns:a="http://schemas.openxmlformats.org/drawingml/2006/main">
              <a:ext uri="{FF2B5EF4-FFF2-40B4-BE49-F238E27FC236}">
                <a16:creationId xmlns:a16="http://schemas.microsoft.com/office/drawing/2014/main" id="{FD2DFF75-F76C-4B1F-A9FF-81347D87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241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9" name="text-98">
            <a:extLst xmlns:a="http://schemas.openxmlformats.org/drawingml/2006/main">
              <a:ext uri="{FF2B5EF4-FFF2-40B4-BE49-F238E27FC236}">
                <a16:creationId xmlns:a16="http://schemas.microsoft.com/office/drawing/2014/main" id="{17C73A42-F463-4603-A360-F81FCE13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86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zewnętrznych bibliotek</a:t>
            </a:r>
          </a:p>
        </p:txBody>
      </p:sp>
      <p:sp>
        <p:nvSpPr>
          <p:cNvPr id="10" name="text-99">
            <a:extLst xmlns:a="http://schemas.openxmlformats.org/drawingml/2006/main">
              <a:ext uri="{FF2B5EF4-FFF2-40B4-BE49-F238E27FC236}">
                <a16:creationId xmlns:a16="http://schemas.microsoft.com/office/drawing/2014/main" id="{3B212408-DF2D-41EE-8E5F-461BF7C4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33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Brak runtime'owych skryptów i CSS z sieci</a:t>
            </a:r>
          </a:p>
        </p:txBody>
      </p:sp>
      <p:sp>
        <p:nvSpPr>
          <p:cNvPr id="11" name="shape-100">
            <a:extLst xmlns:a="http://schemas.openxmlformats.org/drawingml/2006/main">
              <a:ext uri="{FF2B5EF4-FFF2-40B4-BE49-F238E27FC236}">
                <a16:creationId xmlns:a16="http://schemas.microsoft.com/office/drawing/2014/main" id="{BB3B0EFF-EA28-4268-B0C6-33F158CD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01">
            <a:extLst xmlns:a="http://schemas.openxmlformats.org/drawingml/2006/main">
              <a:ext uri="{FF2B5EF4-FFF2-40B4-BE49-F238E27FC236}">
                <a16:creationId xmlns:a16="http://schemas.microsoft.com/office/drawing/2014/main" id="{97013669-333A-4660-9B04-5CAD1A3E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952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rPr>
              <a:t>5 s</a:t>
            </a:r>
          </a:p>
        </p:txBody>
      </p:sp>
      <p:sp>
        <p:nvSpPr>
          <p:cNvPr id="13" name="text-102">
            <a:extLst xmlns:a="http://schemas.openxmlformats.org/drawingml/2006/main">
              <a:ext uri="{FF2B5EF4-FFF2-40B4-BE49-F238E27FC236}">
                <a16:creationId xmlns:a16="http://schemas.microsoft.com/office/drawing/2014/main" id="{EF2F37F5-0B5C-448C-961B-7722A427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autosave</a:t>
            </a:r>
          </a:p>
        </p:txBody>
      </p:sp>
      <p:sp>
        <p:nvSpPr>
          <p:cNvPr id="14" name="text-103">
            <a:extLst xmlns:a="http://schemas.openxmlformats.org/drawingml/2006/main">
              <a:ext uri="{FF2B5EF4-FFF2-40B4-BE49-F238E27FC236}">
                <a16:creationId xmlns:a16="http://schemas.microsoft.com/office/drawing/2014/main" id="{BA5DF32E-83CE-49AC-BED5-3A05F652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Szkic w localStorage + jawny zapis pliku</a:t>
            </a:r>
          </a:p>
        </p:txBody>
      </p:sp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1D2C48B6-2A39-452A-8048-E9FA7830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10 398 linii · 366 nazwanych funkcji · 133 rejestracje zdarzeń</a:t>
            </a:r>
          </a:p>
        </p:txBody>
      </p:sp>
      <p:sp>
        <p:nvSpPr>
          <p:cNvPr id="16" name="footer-10">
            <a:extLst xmlns:a="http://schemas.openxmlformats.org/drawingml/2006/main">
              <a:ext uri="{FF2B5EF4-FFF2-40B4-BE49-F238E27FC236}">
                <a16:creationId xmlns:a16="http://schemas.microsoft.com/office/drawing/2014/main" id="{D69E98CA-0526-471A-BF26-3757097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17" name="footer-num-10">
            <a:extLst xmlns:a="http://schemas.openxmlformats.org/drawingml/2006/main">
              <a:ext uri="{FF2B5EF4-FFF2-40B4-BE49-F238E27FC236}">
                <a16:creationId xmlns:a16="http://schemas.microsoft.com/office/drawing/2014/main" id="{03F72CD0-4247-4393-84BF-5989632B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193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F60D2444-28AA-44BB-A93B-08DA5F00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Testujemy strukturę, nie zrzuty ekranu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FC27AC6A-0E01-4929-9EFF-EF7100F2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Test snapshot uruchamia kod edytora w pamięci i kontroluje parser, lint, osiągalność BFS oraz layout Flow.</a:t>
            </a:r>
          </a:p>
        </p:txBody>
      </p:sp>
      <p:sp>
        <p:nvSpPr>
          <p:cNvPr id="3" name="shape-106">
            <a:extLst xmlns:a="http://schemas.openxmlformats.org/drawingml/2006/main">
              <a:ext uri="{FF2B5EF4-FFF2-40B4-BE49-F238E27FC236}">
                <a16:creationId xmlns:a16="http://schemas.microsoft.com/office/drawing/2014/main" id="{8274C218-EACB-4794-B959-394834B1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E4A9DB50-C8B4-4304-BC79-36C8D398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90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119</a:t>
            </a:r>
          </a:p>
        </p:txBody>
      </p:sp>
      <p:sp>
        <p:nvSpPr>
          <p:cNvPr id="5" name="text-108">
            <a:extLst xmlns:a="http://schemas.openxmlformats.org/drawingml/2006/main">
              <a:ext uri="{FF2B5EF4-FFF2-40B4-BE49-F238E27FC236}">
                <a16:creationId xmlns:a16="http://schemas.microsoft.com/office/drawing/2014/main" id="{2C0FC037-56F5-4723-AB8F-ADFE14B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etapów</a:t>
            </a:r>
          </a:p>
        </p:txBody>
      </p:sp>
      <p:sp>
        <p:nvSpPr>
          <p:cNvPr id="6" name="text-109">
            <a:extLst xmlns:a="http://schemas.openxmlformats.org/drawingml/2006/main">
              <a:ext uri="{FF2B5EF4-FFF2-40B4-BE49-F238E27FC236}">
                <a16:creationId xmlns:a16="http://schemas.microsoft.com/office/drawing/2014/main" id="{6F28B3AC-4B32-4CA0-9DC9-68D1AFC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wszystkie osiągalne od startu</a:t>
            </a:r>
          </a:p>
        </p:txBody>
      </p:sp>
      <p:sp>
        <p:nvSpPr>
          <p:cNvPr id="7" name="shape-110">
            <a:extLst xmlns:a="http://schemas.openxmlformats.org/drawingml/2006/main">
              <a:ext uri="{FF2B5EF4-FFF2-40B4-BE49-F238E27FC236}">
                <a16:creationId xmlns:a16="http://schemas.microsoft.com/office/drawing/2014/main" id="{A27F1633-BF93-4432-9919-D1E33ED0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622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11">
            <a:extLst xmlns:a="http://schemas.openxmlformats.org/drawingml/2006/main">
              <a:ext uri="{FF2B5EF4-FFF2-40B4-BE49-F238E27FC236}">
                <a16:creationId xmlns:a16="http://schemas.microsoft.com/office/drawing/2014/main" id="{F989352F-B556-4636-809C-052DE79F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2990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126</a:t>
            </a:r>
          </a:p>
        </p:txBody>
      </p:sp>
      <p:sp>
        <p:nvSpPr>
          <p:cNvPr id="9" name="text-112">
            <a:extLst xmlns:a="http://schemas.openxmlformats.org/drawingml/2006/main">
              <a:ext uri="{FF2B5EF4-FFF2-40B4-BE49-F238E27FC236}">
                <a16:creationId xmlns:a16="http://schemas.microsoft.com/office/drawing/2014/main" id="{4B19EC55-B39C-49BC-ADB0-4953F48D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05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krawędzi</a:t>
            </a:r>
          </a:p>
        </p:txBody>
      </p:sp>
      <p:sp>
        <p:nvSpPr>
          <p:cNvPr id="10" name="text-113">
            <a:extLst xmlns:a="http://schemas.openxmlformats.org/drawingml/2006/main">
              <a:ext uri="{FF2B5EF4-FFF2-40B4-BE49-F238E27FC236}">
                <a16:creationId xmlns:a16="http://schemas.microsoft.com/office/drawing/2014/main" id="{3E38B35F-AB38-45F3-A2A4-7FE8C62A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339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graf międzyetapowy pełnego questa</a:t>
            </a:r>
          </a:p>
        </p:txBody>
      </p:sp>
      <p:sp>
        <p:nvSpPr>
          <p:cNvPr id="11" name="shape-114">
            <a:extLst xmlns:a="http://schemas.openxmlformats.org/drawingml/2006/main">
              <a:ext uri="{FF2B5EF4-FFF2-40B4-BE49-F238E27FC236}">
                <a16:creationId xmlns:a16="http://schemas.microsoft.com/office/drawing/2014/main" id="{52B65260-2DF0-43F4-8C21-AF92B97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35623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15">
            <a:extLst xmlns:a="http://schemas.openxmlformats.org/drawingml/2006/main">
              <a:ext uri="{FF2B5EF4-FFF2-40B4-BE49-F238E27FC236}">
                <a16:creationId xmlns:a16="http://schemas.microsoft.com/office/drawing/2014/main" id="{4972205F-BBEF-4D76-A038-72416AD3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990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14/14</a:t>
            </a:r>
          </a:p>
        </p:txBody>
      </p:sp>
      <p:sp>
        <p:nvSpPr>
          <p:cNvPr id="13" name="text-116">
            <a:extLst xmlns:a="http://schemas.openxmlformats.org/drawingml/2006/main">
              <a:ext uri="{FF2B5EF4-FFF2-40B4-BE49-F238E27FC236}">
                <a16:creationId xmlns:a16="http://schemas.microsoft.com/office/drawing/2014/main" id="{D1DFECAC-877A-4FB9-AFEA-FC9415E7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sprawdzeń</a:t>
            </a:r>
          </a:p>
        </p:txBody>
      </p:sp>
      <p:sp>
        <p:nvSpPr>
          <p:cNvPr id="14" name="text-117">
            <a:extLst xmlns:a="http://schemas.openxmlformats.org/drawingml/2006/main">
              <a:ext uri="{FF2B5EF4-FFF2-40B4-BE49-F238E27FC236}">
                <a16:creationId xmlns:a16="http://schemas.microsoft.com/office/drawing/2014/main" id="{2EDD59A6-41B0-46C1-9BC5-9835266E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33900"/>
            <a:ext cx="2990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zero niezaliczonych testów</a:t>
            </a:r>
          </a:p>
        </p:txBody>
      </p:sp>
      <p:sp>
        <p:nvSpPr>
          <p:cNvPr id="15" name="text-118">
            <a:extLst xmlns:a="http://schemas.openxmlformats.org/drawingml/2006/main">
              <a:ext uri="{FF2B5EF4-FFF2-40B4-BE49-F238E27FC236}">
                <a16:creationId xmlns:a16="http://schemas.microsoft.com/office/drawing/2014/main" id="{535E5374-8FB4-4125-8404-729FA3D7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Pełny fixture „Tkacze Snów” · 119/119 etapów otrzymuje kolumnę i pozycję Y w layoucie Flow</a:t>
            </a:r>
          </a:p>
        </p:txBody>
      </p:sp>
      <p:sp>
        <p:nvSpPr>
          <p:cNvPr id="16" name="footer-11">
            <a:extLst xmlns:a="http://schemas.openxmlformats.org/drawingml/2006/main">
              <a:ext uri="{FF2B5EF4-FFF2-40B4-BE49-F238E27FC236}">
                <a16:creationId xmlns:a16="http://schemas.microsoft.com/office/drawing/2014/main" id="{DF33954B-7245-4169-A8F9-1D9DD65F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17" name="footer-num-11">
            <a:extLst xmlns:a="http://schemas.openxmlformats.org/drawingml/2006/main">
              <a:ext uri="{FF2B5EF4-FFF2-40B4-BE49-F238E27FC236}">
                <a16:creationId xmlns:a16="http://schemas.microsoft.com/office/drawing/2014/main" id="{B490B72A-1FF0-49F0-8F08-B055182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94162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70B0BD74-0F89-4DB7-82C3-D84E2BCA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Nowy rytm pracy skraca pętlę do decyzji</a:t>
            </a:r>
          </a:p>
        </p:txBody>
      </p:sp>
      <p:sp>
        <p:nvSpPr>
          <p:cNvPr id="2" name="rule-119">
            <a:extLst xmlns:a="http://schemas.openxmlformats.org/drawingml/2006/main">
              <a:ext uri="{FF2B5EF4-FFF2-40B4-BE49-F238E27FC236}">
                <a16:creationId xmlns:a16="http://schemas.microsoft.com/office/drawing/2014/main" id="{652D338F-66C3-407D-B5B7-76265140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3" name="shape-120">
            <a:extLst xmlns:a="http://schemas.openxmlformats.org/drawingml/2006/main">
              <a:ext uri="{FF2B5EF4-FFF2-40B4-BE49-F238E27FC236}">
                <a16:creationId xmlns:a16="http://schemas.microsoft.com/office/drawing/2014/main" id="{0BC46FC0-3C72-4347-9A34-EC4F7302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1BEAB1A1-7A3D-4100-9E76-EA605023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122">
            <a:extLst xmlns:a="http://schemas.openxmlformats.org/drawingml/2006/main">
              <a:ext uri="{FF2B5EF4-FFF2-40B4-BE49-F238E27FC236}">
                <a16:creationId xmlns:a16="http://schemas.microsoft.com/office/drawing/2014/main" id="{0D3B3B4B-4D79-45C6-A80E-C2462F04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NAPISZ</a:t>
            </a:r>
          </a:p>
        </p:txBody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27347222-F325-4BF1-9983-CBBC8B3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tekst i autocomplete</a:t>
            </a:r>
          </a:p>
        </p:txBody>
      </p:sp>
      <p:sp>
        <p:nvSpPr>
          <p:cNvPr id="7" name="shape-124">
            <a:extLst xmlns:a="http://schemas.openxmlformats.org/drawingml/2006/main">
              <a:ext uri="{FF2B5EF4-FFF2-40B4-BE49-F238E27FC236}">
                <a16:creationId xmlns:a16="http://schemas.microsoft.com/office/drawing/2014/main" id="{2296006E-7177-4A7D-975A-EF8522FC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25">
            <a:extLst xmlns:a="http://schemas.openxmlformats.org/drawingml/2006/main">
              <a:ext uri="{FF2B5EF4-FFF2-40B4-BE49-F238E27FC236}">
                <a16:creationId xmlns:a16="http://schemas.microsoft.com/office/drawing/2014/main" id="{1B2BD7E3-FEF8-455B-84BB-DC14FEEA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-126">
            <a:extLst xmlns:a="http://schemas.openxmlformats.org/drawingml/2006/main">
              <a:ext uri="{FF2B5EF4-FFF2-40B4-BE49-F238E27FC236}">
                <a16:creationId xmlns:a16="http://schemas.microsoft.com/office/drawing/2014/main" id="{F3C81069-25BC-4607-AF52-176995F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SPRAWDŹ</a:t>
            </a:r>
          </a:p>
        </p:txBody>
      </p:sp>
      <p:sp>
        <p:nvSpPr>
          <p:cNvPr id="10" name="text-127">
            <a:extLst xmlns:a="http://schemas.openxmlformats.org/drawingml/2006/main">
              <a:ext uri="{FF2B5EF4-FFF2-40B4-BE49-F238E27FC236}">
                <a16:creationId xmlns:a16="http://schemas.microsoft.com/office/drawing/2014/main" id="{CE159DCF-75AB-45E6-A97E-F8D4E953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481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lint w tej samej chwili</a:t>
            </a:r>
          </a:p>
        </p:txBody>
      </p:sp>
      <p:sp>
        <p:nvSpPr>
          <p:cNvPr id="11" name="shape-128">
            <a:extLst xmlns:a="http://schemas.openxmlformats.org/drawingml/2006/main">
              <a:ext uri="{FF2B5EF4-FFF2-40B4-BE49-F238E27FC236}">
                <a16:creationId xmlns:a16="http://schemas.microsoft.com/office/drawing/2014/main" id="{ED699AC2-34E1-483C-BDD9-664A4186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29">
            <a:extLst xmlns:a="http://schemas.openxmlformats.org/drawingml/2006/main">
              <a:ext uri="{FF2B5EF4-FFF2-40B4-BE49-F238E27FC236}">
                <a16:creationId xmlns:a16="http://schemas.microsoft.com/office/drawing/2014/main" id="{C6D0587A-6DA7-46AC-AB95-9156B9BA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text-130">
            <a:extLst xmlns:a="http://schemas.openxmlformats.org/drawingml/2006/main">
              <a:ext uri="{FF2B5EF4-FFF2-40B4-BE49-F238E27FC236}">
                <a16:creationId xmlns:a16="http://schemas.microsoft.com/office/drawing/2014/main" id="{4931EFB6-26D8-4C5C-9065-D22BAB44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ZOBACZ</a:t>
            </a:r>
          </a:p>
        </p:txBody>
      </p:sp>
      <p:sp>
        <p:nvSpPr>
          <p:cNvPr id="14" name="text-131">
            <a:extLst xmlns:a="http://schemas.openxmlformats.org/drawingml/2006/main">
              <a:ext uri="{FF2B5EF4-FFF2-40B4-BE49-F238E27FC236}">
                <a16:creationId xmlns:a16="http://schemas.microsoft.com/office/drawing/2014/main" id="{2D26F3B5-527B-4F97-B280-BD73C2EF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481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graf i Flow questa</a:t>
            </a:r>
          </a:p>
        </p:txBody>
      </p:sp>
      <p:sp>
        <p:nvSpPr>
          <p:cNvPr id="15" name="shape-132">
            <a:extLst xmlns:a="http://schemas.openxmlformats.org/drawingml/2006/main">
              <a:ext uri="{FF2B5EF4-FFF2-40B4-BE49-F238E27FC236}">
                <a16:creationId xmlns:a16="http://schemas.microsoft.com/office/drawing/2014/main" id="{F1303B41-9EAE-44DE-9832-75CA4B42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33">
            <a:extLst xmlns:a="http://schemas.openxmlformats.org/drawingml/2006/main">
              <a:ext uri="{FF2B5EF4-FFF2-40B4-BE49-F238E27FC236}">
                <a16:creationId xmlns:a16="http://schemas.microsoft.com/office/drawing/2014/main" id="{E31DA2CB-F3C3-4665-955B-8C8928C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text-134">
            <a:extLst xmlns:a="http://schemas.openxmlformats.org/drawingml/2006/main">
              <a:ext uri="{FF2B5EF4-FFF2-40B4-BE49-F238E27FC236}">
                <a16:creationId xmlns:a16="http://schemas.microsoft.com/office/drawing/2014/main" id="{8DF9C3E4-FA13-4937-9F32-6C7104FB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EA580C"/>
                </a:solidFill>
                <a:latin typeface="Helvetica Neue"/>
                <a:ea typeface="Helvetica Neue"/>
                <a:cs typeface="Helvetica Neue"/>
              </a:rPr>
              <a:t>PRZEJDŹ</a:t>
            </a:r>
          </a:p>
        </p:txBody>
      </p:sp>
      <p:sp>
        <p:nvSpPr>
          <p:cNvPr id="18" name="text-135">
            <a:extLst xmlns:a="http://schemas.openxmlformats.org/drawingml/2006/main">
              <a:ext uri="{FF2B5EF4-FFF2-40B4-BE49-F238E27FC236}">
                <a16:creationId xmlns:a16="http://schemas.microsoft.com/office/drawing/2014/main" id="{EA699808-DF38-498B-A83F-B9B08FB8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481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Play z wyborami</a:t>
            </a:r>
          </a:p>
        </p:txBody>
      </p:sp>
      <p:sp>
        <p:nvSpPr>
          <p:cNvPr id="19" name="shape-136">
            <a:extLst xmlns:a="http://schemas.openxmlformats.org/drawingml/2006/main">
              <a:ext uri="{FF2B5EF4-FFF2-40B4-BE49-F238E27FC236}">
                <a16:creationId xmlns:a16="http://schemas.microsoft.com/office/drawing/2014/main" id="{1A640BEF-4771-454C-A77A-EA547E2A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28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37">
            <a:extLst xmlns:a="http://schemas.openxmlformats.org/drawingml/2006/main">
              <a:ext uri="{FF2B5EF4-FFF2-40B4-BE49-F238E27FC236}">
                <a16:creationId xmlns:a16="http://schemas.microsoft.com/office/drawing/2014/main" id="{3D2C8BF8-C3BF-48FA-A739-39F5C388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05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text-138">
            <a:extLst xmlns:a="http://schemas.openxmlformats.org/drawingml/2006/main">
              <a:ext uri="{FF2B5EF4-FFF2-40B4-BE49-F238E27FC236}">
                <a16:creationId xmlns:a16="http://schemas.microsoft.com/office/drawing/2014/main" id="{192B4071-D10C-42AD-AB73-25AA621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ZREVIEWUJ</a:t>
            </a:r>
          </a:p>
        </p:txBody>
      </p:sp>
      <p:sp>
        <p:nvSpPr>
          <p:cNvPr id="22" name="text-139">
            <a:extLst xmlns:a="http://schemas.openxmlformats.org/drawingml/2006/main">
              <a:ext uri="{FF2B5EF4-FFF2-40B4-BE49-F238E27FC236}">
                <a16:creationId xmlns:a16="http://schemas.microsoft.com/office/drawing/2014/main" id="{B95931E3-AE02-4B3F-BDBC-EE9EF5C7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481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lens, diff i eksport</a:t>
            </a:r>
          </a:p>
        </p:txBody>
      </p:sp>
      <p:sp>
        <p:nvSpPr>
          <p:cNvPr id="23" name="text-140">
            <a:extLst xmlns:a="http://schemas.openxmlformats.org/drawingml/2006/main">
              <a:ext uri="{FF2B5EF4-FFF2-40B4-BE49-F238E27FC236}">
                <a16:creationId xmlns:a16="http://schemas.microsoft.com/office/drawing/2014/main" id="{A42A9A7C-FB84-4A25-899C-8D526D46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38750"/>
            <a:ext cx="906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Każdy krok korzysta z tego samego tekstu — bez ręcznego przepisywania danych między narzędziami.</a:t>
            </a:r>
          </a:p>
        </p:txBody>
      </p:sp>
      <p:sp>
        <p:nvSpPr>
          <p:cNvPr id="24" name="footer-12">
            <a:extLst xmlns:a="http://schemas.openxmlformats.org/drawingml/2006/main">
              <a:ext uri="{FF2B5EF4-FFF2-40B4-BE49-F238E27FC236}">
                <a16:creationId xmlns:a16="http://schemas.microsoft.com/office/drawing/2014/main" id="{CF1D3981-1759-4FF3-8B3F-82E9546E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v31.22</a:t>
            </a:r>
          </a:p>
        </p:txBody>
      </p:sp>
      <p:sp>
        <p:nvSpPr>
          <p:cNvPr id="25" name="footer-num-12">
            <a:extLst xmlns:a="http://schemas.openxmlformats.org/drawingml/2006/main">
              <a:ext uri="{FF2B5EF4-FFF2-40B4-BE49-F238E27FC236}">
                <a16:creationId xmlns:a16="http://schemas.microsoft.com/office/drawing/2014/main" id="{8FC3ECA1-BFD1-4831-8887-1EE8E844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14650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41">
            <a:extLst xmlns:a="http://schemas.openxmlformats.org/drawingml/2006/main">
              <a:ext uri="{FF2B5EF4-FFF2-40B4-BE49-F238E27FC236}">
                <a16:creationId xmlns:a16="http://schemas.microsoft.com/office/drawing/2014/main" id="{8D912E1C-8AC1-48B6-AE58-57508CF3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WNIOSEK</a:t>
            </a:r>
          </a:p>
        </p:txBody>
      </p:sp>
      <p:sp>
        <p:nvSpPr>
          <p:cNvPr id="2" name="text-142">
            <a:extLst xmlns:a="http://schemas.openxmlformats.org/drawingml/2006/main">
              <a:ext uri="{FF2B5EF4-FFF2-40B4-BE49-F238E27FC236}">
                <a16:creationId xmlns:a16="http://schemas.microsoft.com/office/drawing/2014/main" id="{84B7C807-0F9B-4245-8C0D-BF6CD56B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096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 staje się kodem,</a:t>
            </a:r>
          </a:p>
          <a:p xmlns:a="http://schemas.openxmlformats.org/drawingml/2006/main">
            <a:pPr algn="l">
              <a:defRPr sz="54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 i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który nadal dobrze się czyta.</a:t>
            </a:r>
          </a:p>
        </p:txBody>
      </p:sp>
      <p:sp>
        <p:nvSpPr>
          <p:cNvPr id="3" name="rule-143">
            <a:extLst xmlns:a="http://schemas.openxmlformats.org/drawingml/2006/main">
              <a:ext uri="{FF2B5EF4-FFF2-40B4-BE49-F238E27FC236}">
                <a16:creationId xmlns:a16="http://schemas.microsoft.com/office/drawing/2014/main" id="{3B2E0C51-E043-44B8-9379-276616D9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4" name="text-144">
            <a:extLst xmlns:a="http://schemas.openxmlformats.org/drawingml/2006/main">
              <a:ext uri="{FF2B5EF4-FFF2-40B4-BE49-F238E27FC236}">
                <a16:creationId xmlns:a16="http://schemas.microsoft.com/office/drawing/2014/main" id="{03F8DF8F-6562-4C5C-8CE1-6443EA7C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SZYBCIEJ PISAĆ</a:t>
            </a:r>
          </a:p>
        </p:txBody>
      </p:sp>
      <p:sp>
        <p:nvSpPr>
          <p:cNvPr id="5" name="text-145">
            <a:extLst xmlns:a="http://schemas.openxmlformats.org/drawingml/2006/main">
              <a:ext uri="{FF2B5EF4-FFF2-40B4-BE49-F238E27FC236}">
                <a16:creationId xmlns:a16="http://schemas.microsoft.com/office/drawing/2014/main" id="{CC95D80A-EF9F-42BE-B74A-A8AFE8E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bez opuszczania tekstu</a:t>
            </a:r>
          </a:p>
        </p:txBody>
      </p:sp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AE0AF802-846B-49CF-893D-521D973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067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WCZEŚNIEJ WYKRYWAĆ</a:t>
            </a:r>
          </a:p>
        </p:txBody>
      </p:sp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CEA4BB53-8D26-4AED-95F0-C15AE28B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5054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zanim błąd trafi do integracji</a:t>
            </a:r>
          </a:p>
        </p:txBody>
      </p:sp>
      <p:sp>
        <p:nvSpPr>
          <p:cNvPr id="8" name="text-148">
            <a:extLst xmlns:a="http://schemas.openxmlformats.org/drawingml/2006/main">
              <a:ext uri="{FF2B5EF4-FFF2-40B4-BE49-F238E27FC236}">
                <a16:creationId xmlns:a16="http://schemas.microsoft.com/office/drawing/2014/main" id="{FC957E52-741D-48C8-A6B1-85419555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67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ŚWIADOMIE TESTOWAĆ</a:t>
            </a:r>
          </a:p>
        </p:txBody>
      </p:sp>
      <p:sp>
        <p:nvSpPr>
          <p:cNvPr id="9" name="text-149">
            <a:extLst xmlns:a="http://schemas.openxmlformats.org/drawingml/2006/main">
              <a:ext uri="{FF2B5EF4-FFF2-40B4-BE49-F238E27FC236}">
                <a16:creationId xmlns:a16="http://schemas.microsoft.com/office/drawing/2014/main" id="{B98A48B0-819B-4319-A5EA-4695CDAF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054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tak jak przejdzie to gracz</a:t>
            </a:r>
          </a:p>
        </p:txBody>
      </p:sp>
      <p:sp>
        <p:nvSpPr>
          <p:cNvPr id="10" name="text-150">
            <a:extLst xmlns:a="http://schemas.openxmlformats.org/drawingml/2006/main">
              <a:ext uri="{FF2B5EF4-FFF2-40B4-BE49-F238E27FC236}">
                <a16:creationId xmlns:a16="http://schemas.microsoft.com/office/drawing/2014/main" id="{BF964DB7-F1A0-4482-85FF-8541023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9CA3AF"/>
                </a:solidFill>
                <a:latin typeface="Helvetica Neue"/>
                <a:ea typeface="Helvetica Neue"/>
                <a:cs typeface="Helvetica Neue"/>
              </a:rPr>
              <a:t>QUEST EDITOR · PYTANIA?</a:t>
            </a:r>
          </a:p>
        </p:txBody>
      </p:sp>
    </p:spTree>
    <p:extLst>
      <p:ext uri="{BB962C8B-B14F-4D97-AF65-F5344CB8AC3E}">
        <p14:creationId xmlns:p14="http://schemas.microsoft.com/office/powerpoint/2010/main" val="1565189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2026-08-10T15:45:00.1650000Z</dcterms:created>
  <dcterms:modified xsi:type="dcterms:W3CDTF">2026-08-10T15:45:00.1650000Z</dcterms:modified>
</coreProperties>
</file>